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3" r:id="rId8"/>
    <p:sldId id="264" r:id="rId9"/>
    <p:sldId id="265" r:id="rId10"/>
    <p:sldId id="262" r:id="rId11"/>
    <p:sldId id="266" r:id="rId12"/>
    <p:sldId id="267" r:id="rId13"/>
    <p:sldId id="268" r:id="rId14"/>
    <p:sldId id="269" r:id="rId15"/>
    <p:sldId id="270" r:id="rId16"/>
    <p:sldId id="271" r:id="rId17"/>
    <p:sldId id="272" r:id="rId18"/>
    <p:sldId id="283" r:id="rId19"/>
    <p:sldId id="284" r:id="rId20"/>
    <p:sldId id="273" r:id="rId21"/>
    <p:sldId id="274" r:id="rId22"/>
    <p:sldId id="275" r:id="rId23"/>
    <p:sldId id="276" r:id="rId24"/>
    <p:sldId id="282" r:id="rId25"/>
    <p:sldId id="277" r:id="rId26"/>
    <p:sldId id="278" r:id="rId27"/>
    <p:sldId id="281" r:id="rId28"/>
    <p:sldId id="279" r:id="rId29"/>
    <p:sldId id="280"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CC00"/>
    <a:srgbClr val="000099"/>
    <a:srgbClr val="F0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951BBB0-F49E-46E0-BEE6-151866D9943D}" type="datetimeFigureOut">
              <a:rPr lang="en-US" smtClean="0"/>
              <a:t>2025-10-06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E131F82C-3AEE-48D2-8C09-BE1D92489895}" type="slidenum">
              <a:rPr lang="en-US" smtClean="0"/>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951BBB0-F49E-46E0-BEE6-151866D9943D}" type="datetimeFigureOut">
              <a:rPr lang="en-US" smtClean="0"/>
              <a:t>2025-10-06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1F82C-3AEE-48D2-8C09-BE1D92489895}" type="slidenum">
              <a:rPr lang="en-US" smtClean="0"/>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951BBB0-F49E-46E0-BEE6-151866D9943D}" type="datetimeFigureOut">
              <a:rPr lang="en-US" smtClean="0"/>
              <a:t>2025-10-06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E131F82C-3AEE-48D2-8C09-BE1D92489895}"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951BBB0-F49E-46E0-BEE6-151866D9943D}" type="datetimeFigureOut">
              <a:rPr lang="en-US" smtClean="0"/>
              <a:t>2025-10-06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1F82C-3AEE-48D2-8C09-BE1D92489895}" type="slidenum">
              <a:rPr lang="en-US" smtClean="0"/>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951BBB0-F49E-46E0-BEE6-151866D9943D}" type="datetimeFigureOut">
              <a:rPr lang="en-US" smtClean="0"/>
              <a:t>2025-10-06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31F82C-3AEE-48D2-8C09-BE1D92489895}" type="slidenum">
              <a:rPr lang="en-US" smtClean="0"/>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951BBB0-F49E-46E0-BEE6-151866D9943D}" type="datetimeFigureOut">
              <a:rPr lang="en-US" smtClean="0"/>
              <a:t>2025-10-06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31F82C-3AEE-48D2-8C09-BE1D9248989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51BBB0-F49E-46E0-BEE6-151866D9943D}" type="datetimeFigureOut">
              <a:rPr lang="en-US" smtClean="0"/>
              <a:t>2025-10-06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31F82C-3AEE-48D2-8C09-BE1D9248989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951BBB0-F49E-46E0-BEE6-151866D9943D}" type="datetimeFigureOut">
              <a:rPr lang="en-US" smtClean="0"/>
              <a:t>2025-10-06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31F82C-3AEE-48D2-8C09-BE1D92489895}" type="slidenum">
              <a:rPr lang="en-US" smtClean="0"/>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951BBB0-F49E-46E0-BEE6-151866D9943D}" type="datetimeFigureOut">
              <a:rPr lang="en-US" smtClean="0"/>
              <a:t>2025-10-06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E131F82C-3AEE-48D2-8C09-BE1D92489895}" type="slidenum">
              <a:rPr lang="en-US" smtClean="0"/>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951BBB0-F49E-46E0-BEE6-151866D9943D}" type="datetimeFigureOut">
              <a:rPr lang="en-US" smtClean="0"/>
              <a:t>2025-10-06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1F82C-3AEE-48D2-8C09-BE1D9248989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951BBB0-F49E-46E0-BEE6-151866D9943D}" type="datetimeFigureOut">
              <a:rPr lang="en-US" smtClean="0"/>
              <a:t>2025-10-06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31F82C-3AEE-48D2-8C09-BE1D9248989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5951BBB0-F49E-46E0-BEE6-151866D9943D}" type="datetimeFigureOut">
              <a:rPr lang="en-US" smtClean="0"/>
              <a:t>2025-10-06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E131F82C-3AEE-48D2-8C09-BE1D9248989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adoop Ecosystem - Analytics Vidhya"/>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7288" b="24318"/>
          <a:stretch/>
        </p:blipFill>
        <p:spPr bwMode="auto">
          <a:xfrm>
            <a:off x="2603284" y="3124200"/>
            <a:ext cx="5702516" cy="1143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762000" y="1752600"/>
            <a:ext cx="7772400" cy="1470025"/>
          </a:xfrm>
        </p:spPr>
        <p:txBody>
          <a:bodyPr>
            <a:noAutofit/>
          </a:bodyPr>
          <a:lstStyle/>
          <a:p>
            <a:r>
              <a:rPr lang="en-US" sz="5400" b="1" dirty="0" smtClean="0">
                <a:ln w="19050" cmpd="sng">
                  <a:solidFill>
                    <a:schemeClr val="tx1"/>
                  </a:solidFill>
                  <a:prstDash val="solid"/>
                </a:ln>
                <a:solidFill>
                  <a:srgbClr val="0070C0"/>
                </a:solidFill>
                <a:latin typeface="Arial Black" pitchFamily="34" charset="0"/>
              </a:rPr>
              <a:t>Introduction to</a:t>
            </a:r>
            <a:endParaRPr lang="en-US" sz="5400" b="1" i="1" dirty="0">
              <a:ln w="19050" cmpd="sng">
                <a:solidFill>
                  <a:schemeClr val="tx1"/>
                </a:solidFill>
                <a:prstDash val="solid"/>
              </a:ln>
              <a:solidFill>
                <a:srgbClr val="0070C0"/>
              </a:solidFill>
              <a:latin typeface="Arial Black" pitchFamily="34" charset="0"/>
            </a:endParaRPr>
          </a:p>
        </p:txBody>
      </p:sp>
      <p:sp>
        <p:nvSpPr>
          <p:cNvPr id="4" name="Rectangle 3"/>
          <p:cNvSpPr/>
          <p:nvPr/>
        </p:nvSpPr>
        <p:spPr>
          <a:xfrm>
            <a:off x="1062648" y="4570274"/>
            <a:ext cx="7018716" cy="267765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3600" b="1" cap="none" spc="0" dirty="0" smtClean="0">
                <a:ln w="11430"/>
                <a:solidFill>
                  <a:srgbClr val="002060"/>
                </a:solidFill>
                <a:effectLst>
                  <a:outerShdw blurRad="50800" dist="39000" dir="5460000" algn="tl">
                    <a:srgbClr val="000000">
                      <a:alpha val="38000"/>
                    </a:srgbClr>
                  </a:outerShdw>
                </a:effectLst>
              </a:rPr>
              <a:t>Edited by</a:t>
            </a:r>
          </a:p>
          <a:p>
            <a:pPr marL="742950" indent="-742950" algn="ctr">
              <a:buAutoNum type="alphaUcPeriod"/>
            </a:pPr>
            <a:r>
              <a:rPr lang="en-US" sz="4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Prof. </a:t>
            </a:r>
            <a:r>
              <a:rPr lang="en-US" sz="4400" b="1" dirty="0" err="1"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Noha</a:t>
            </a:r>
            <a:r>
              <a:rPr lang="en-US" sz="4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El-Attar</a:t>
            </a:r>
          </a:p>
          <a:p>
            <a:pPr algn="ctr"/>
            <a:r>
              <a:rPr lang="en-US" sz="4400" b="1" dirty="0">
                <a:ln w="1905"/>
                <a:solidFill>
                  <a:srgbClr val="0033CC"/>
                </a:solidFill>
                <a:effectLst>
                  <a:innerShdw blurRad="69850" dist="43180" dir="5400000">
                    <a:srgbClr val="000000">
                      <a:alpha val="65000"/>
                    </a:srgbClr>
                  </a:innerShdw>
                </a:effectLst>
              </a:rPr>
              <a:t>Head of Bioinformatics Dep.</a:t>
            </a:r>
            <a:endParaRPr lang="en-US" sz="5400" b="1" dirty="0">
              <a:ln w="1905"/>
              <a:solidFill>
                <a:srgbClr val="0033CC"/>
              </a:solidFill>
              <a:effectLst>
                <a:innerShdw blurRad="69850" dist="43180" dir="5400000">
                  <a:srgbClr val="000000">
                    <a:alpha val="65000"/>
                  </a:srgbClr>
                </a:innerShdw>
              </a:effectLst>
            </a:endParaRPr>
          </a:p>
          <a:p>
            <a:pPr marL="742950" indent="-742950" algn="ctr">
              <a:buAutoNum type="alphaUcPeriod"/>
            </a:pPr>
            <a:endParaRPr lang="en-US" sz="4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extLst>
      <p:ext uri="{BB962C8B-B14F-4D97-AF65-F5344CB8AC3E}">
        <p14:creationId xmlns:p14="http://schemas.microsoft.com/office/powerpoint/2010/main" val="35504022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inking Man Question Mark Images – Browse 36,181 Stock Photos, Vectors,  and Video | Adobe Stock"/>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68380" y="609600"/>
            <a:ext cx="1343024" cy="1143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304800" y="533400"/>
            <a:ext cx="7772400" cy="1143000"/>
          </a:xfrm>
        </p:spPr>
        <p:txBody>
          <a:bodyPr>
            <a:noAutofit/>
          </a:bodyPr>
          <a:lstStyle/>
          <a:p>
            <a:r>
              <a:rPr lang="en-US" sz="3600" b="1" dirty="0" smtClean="0">
                <a:solidFill>
                  <a:srgbClr val="C00000"/>
                </a:solidFill>
                <a:latin typeface="Arial Black" pitchFamily="34" charset="0"/>
              </a:rPr>
              <a:t>Do you remind</a:t>
            </a:r>
            <a:br>
              <a:rPr lang="en-US" sz="3600" b="1" dirty="0" smtClean="0">
                <a:solidFill>
                  <a:srgbClr val="C00000"/>
                </a:solidFill>
                <a:latin typeface="Arial Black" pitchFamily="34" charset="0"/>
              </a:rPr>
            </a:br>
            <a:r>
              <a:rPr lang="en-US" sz="3600" b="1" dirty="0" smtClean="0">
                <a:solidFill>
                  <a:srgbClr val="0070C0"/>
                </a:solidFill>
                <a:latin typeface="Arial Black" pitchFamily="34" charset="0"/>
              </a:rPr>
              <a:t>What is the mean of Big Data?</a:t>
            </a:r>
            <a:endParaRPr lang="en-US" sz="3600" b="1" dirty="0">
              <a:solidFill>
                <a:srgbClr val="0070C0"/>
              </a:solidFill>
              <a:latin typeface="Arial Black" pitchFamily="34" charset="0"/>
            </a:endParaRPr>
          </a:p>
        </p:txBody>
      </p:sp>
      <p:sp>
        <p:nvSpPr>
          <p:cNvPr id="4" name="Rectangle 3"/>
          <p:cNvSpPr/>
          <p:nvPr/>
        </p:nvSpPr>
        <p:spPr>
          <a:xfrm>
            <a:off x="609600" y="1923871"/>
            <a:ext cx="7848600" cy="830997"/>
          </a:xfrm>
          <a:prstGeom prst="rect">
            <a:avLst/>
          </a:prstGeom>
        </p:spPr>
        <p:txBody>
          <a:bodyPr wrap="square">
            <a:spAutoFit/>
          </a:bodyPr>
          <a:lstStyle/>
          <a:p>
            <a:r>
              <a:rPr lang="en-US" sz="2400" dirty="0"/>
              <a:t>Big data refers to data collections that are too massive or complicated for typical data-processing application software to handle.</a:t>
            </a:r>
          </a:p>
        </p:txBody>
      </p:sp>
      <p:pic>
        <p:nvPicPr>
          <p:cNvPr id="2054" name="Picture 6" descr="Big Data - Distributed Computing and Hadoop - You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545479"/>
            <a:ext cx="5057775" cy="2236321"/>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Infrastructure Management Database or LDAP server authentication -  Documentation for BMC TrueSight Infrastructure Management 11.3 - BMC  Document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1429" y="2754868"/>
            <a:ext cx="3609975" cy="1704976"/>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Free Wrong Vector Art - Download 56+ Wrong Icons &amp; Graphics - Pixaba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76682" y="2794517"/>
            <a:ext cx="1459468" cy="1459468"/>
          </a:xfrm>
          <a:prstGeom prst="rect">
            <a:avLst/>
          </a:prstGeom>
          <a:noFill/>
          <a:extLst>
            <a:ext uri="{909E8E84-426E-40DD-AFC4-6F175D3DCCD1}">
              <a14:hiddenFill xmlns:a14="http://schemas.microsoft.com/office/drawing/2010/main">
                <a:solidFill>
                  <a:srgbClr val="FFFFFF"/>
                </a:solidFill>
              </a14:hiddenFill>
            </a:ext>
          </a:extLst>
        </p:spPr>
      </p:pic>
      <p:sp>
        <p:nvSpPr>
          <p:cNvPr id="5" name="Bent Arrow 4"/>
          <p:cNvSpPr/>
          <p:nvPr/>
        </p:nvSpPr>
        <p:spPr>
          <a:xfrm rot="10800000">
            <a:off x="6015791" y="4509060"/>
            <a:ext cx="1190625" cy="17526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p:cNvSpPr/>
          <p:nvPr/>
        </p:nvSpPr>
        <p:spPr>
          <a:xfrm>
            <a:off x="323850" y="2690336"/>
            <a:ext cx="4857750" cy="1631216"/>
          </a:xfrm>
          <a:prstGeom prst="rect">
            <a:avLst/>
          </a:prstGeom>
          <a:solidFill>
            <a:schemeClr val="accent3">
              <a:lumMod val="20000"/>
              <a:lumOff val="80000"/>
            </a:schemeClr>
          </a:solidFill>
        </p:spPr>
        <p:txBody>
          <a:bodyPr wrap="square">
            <a:spAutoFit/>
          </a:bodyPr>
          <a:lstStyle/>
          <a:p>
            <a:r>
              <a:rPr lang="en-US" sz="2000" b="1" dirty="0" smtClean="0"/>
              <a:t>Disk and memory space </a:t>
            </a:r>
          </a:p>
          <a:p>
            <a:r>
              <a:rPr lang="en-US" sz="2000" b="1" dirty="0" smtClean="0"/>
              <a:t>processing speed </a:t>
            </a:r>
          </a:p>
          <a:p>
            <a:r>
              <a:rPr lang="en-US" sz="2000" b="1" dirty="0" smtClean="0"/>
              <a:t>hardware faults </a:t>
            </a:r>
          </a:p>
          <a:p>
            <a:r>
              <a:rPr lang="en-US" sz="2000" b="1" dirty="0" smtClean="0"/>
              <a:t>network capacity </a:t>
            </a:r>
          </a:p>
          <a:p>
            <a:r>
              <a:rPr lang="en-US" sz="2000" b="1" dirty="0" smtClean="0"/>
              <a:t>and optimizing resources use</a:t>
            </a:r>
            <a:endParaRPr lang="en-US" sz="2000" b="1" dirty="0"/>
          </a:p>
        </p:txBody>
      </p:sp>
      <p:sp>
        <p:nvSpPr>
          <p:cNvPr id="7" name="Right Arrow 6"/>
          <p:cNvSpPr/>
          <p:nvPr/>
        </p:nvSpPr>
        <p:spPr>
          <a:xfrm flipH="1">
            <a:off x="3643312" y="2971800"/>
            <a:ext cx="1781175" cy="8382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b="1" dirty="0" smtClean="0"/>
              <a:t>Problems</a:t>
            </a:r>
            <a:endParaRPr lang="en-US" sz="2400" b="1" dirty="0"/>
          </a:p>
        </p:txBody>
      </p:sp>
    </p:spTree>
    <p:extLst>
      <p:ext uri="{BB962C8B-B14F-4D97-AF65-F5344CB8AC3E}">
        <p14:creationId xmlns:p14="http://schemas.microsoft.com/office/powerpoint/2010/main" val="228110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fade">
                                      <p:cBhvr>
                                        <p:cTn id="7" dur="500"/>
                                        <p:tgtEl>
                                          <p:spTgt spid="20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righ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58"/>
                                        </p:tgtEl>
                                        <p:attrNameLst>
                                          <p:attrName>style.visibility</p:attrName>
                                        </p:attrNameLst>
                                      </p:cBhvr>
                                      <p:to>
                                        <p:strVal val="visible"/>
                                      </p:to>
                                    </p:set>
                                    <p:animEffect transition="in" filter="fade">
                                      <p:cBhvr>
                                        <p:cTn id="21" dur="500"/>
                                        <p:tgtEl>
                                          <p:spTgt spid="205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054"/>
                                        </p:tgtEl>
                                        <p:attrNameLst>
                                          <p:attrName>style.visibility</p:attrName>
                                        </p:attrNameLst>
                                      </p:cBhvr>
                                      <p:to>
                                        <p:strVal val="visible"/>
                                      </p:to>
                                    </p:set>
                                    <p:animEffect transition="in" filter="wipe(up)">
                                      <p:cBhvr>
                                        <p:cTn id="26" dur="500"/>
                                        <p:tgtEl>
                                          <p:spTgt spid="2054"/>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up)">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7772400" cy="1143000"/>
          </a:xfrm>
        </p:spPr>
        <p:txBody>
          <a:bodyPr/>
          <a:lstStyle/>
          <a:p>
            <a:r>
              <a:rPr lang="en-US" b="1" dirty="0" smtClean="0">
                <a:solidFill>
                  <a:srgbClr val="C00000"/>
                </a:solidFill>
                <a:latin typeface="Arial Rounded MT Bold" pitchFamily="34" charset="0"/>
              </a:rPr>
              <a:t>Distributed Computing</a:t>
            </a:r>
            <a:endParaRPr lang="en-US" b="1" dirty="0">
              <a:solidFill>
                <a:srgbClr val="C00000"/>
              </a:solidFill>
              <a:latin typeface="Arial Rounded MT Bold" pitchFamily="34" charset="0"/>
            </a:endParaRPr>
          </a:p>
        </p:txBody>
      </p:sp>
      <p:sp>
        <p:nvSpPr>
          <p:cNvPr id="3" name="Content Placeholder 2"/>
          <p:cNvSpPr>
            <a:spLocks noGrp="1"/>
          </p:cNvSpPr>
          <p:nvPr>
            <p:ph sz="quarter" idx="1"/>
          </p:nvPr>
        </p:nvSpPr>
        <p:spPr>
          <a:xfrm>
            <a:off x="533400" y="1676400"/>
            <a:ext cx="8458200" cy="4572000"/>
          </a:xfrm>
        </p:spPr>
        <p:txBody>
          <a:bodyPr>
            <a:normAutofit/>
          </a:bodyPr>
          <a:lstStyle/>
          <a:p>
            <a:r>
              <a:rPr lang="en-US" sz="3200" dirty="0"/>
              <a:t>A distributed computer system consists of several interconnected nodes. </a:t>
            </a:r>
            <a:endParaRPr lang="en-US" sz="3200" dirty="0" smtClean="0"/>
          </a:p>
          <a:p>
            <a:r>
              <a:rPr lang="en-US" sz="3200" dirty="0" smtClean="0"/>
              <a:t>Nodes </a:t>
            </a:r>
            <a:r>
              <a:rPr lang="en-US" sz="3200" dirty="0"/>
              <a:t>can be </a:t>
            </a:r>
            <a:r>
              <a:rPr lang="en-US" sz="3200" b="1" dirty="0"/>
              <a:t>physical </a:t>
            </a:r>
            <a:r>
              <a:rPr lang="en-US" sz="3200" b="1" dirty="0" smtClean="0"/>
              <a:t>or </a:t>
            </a:r>
            <a:r>
              <a:rPr lang="en-US" sz="3200" b="1" dirty="0"/>
              <a:t>virtual </a:t>
            </a:r>
            <a:r>
              <a:rPr lang="en-US" sz="3200" b="1" dirty="0" smtClean="0"/>
              <a:t>machines</a:t>
            </a:r>
            <a:r>
              <a:rPr lang="en-US" sz="3200" dirty="0" smtClean="0"/>
              <a:t>. </a:t>
            </a:r>
          </a:p>
          <a:p>
            <a:r>
              <a:rPr lang="en-US" sz="3200" dirty="0" smtClean="0"/>
              <a:t>This group </a:t>
            </a:r>
            <a:r>
              <a:rPr lang="en-US" sz="3200" dirty="0"/>
              <a:t>of nodes provides services and applications to the client </a:t>
            </a:r>
            <a:r>
              <a:rPr lang="en-US" sz="3200" b="1" i="1" dirty="0">
                <a:solidFill>
                  <a:srgbClr val="0070C0"/>
                </a:solidFill>
              </a:rPr>
              <a:t>as if it were a single machine</a:t>
            </a:r>
            <a:r>
              <a:rPr lang="en-US" sz="3200" dirty="0"/>
              <a:t>, </a:t>
            </a:r>
            <a:endParaRPr lang="en-US" sz="3200" dirty="0" smtClean="0"/>
          </a:p>
          <a:p>
            <a:r>
              <a:rPr lang="en-US" sz="3200" dirty="0" smtClean="0"/>
              <a:t>This </a:t>
            </a:r>
            <a:r>
              <a:rPr lang="en-US" sz="3200" dirty="0"/>
              <a:t>is also called a </a:t>
            </a:r>
            <a:r>
              <a:rPr lang="en-US" sz="3200" b="1" u="sng" dirty="0">
                <a:solidFill>
                  <a:srgbClr val="00CC00"/>
                </a:solidFill>
              </a:rPr>
              <a:t>cluster</a:t>
            </a:r>
            <a:r>
              <a:rPr lang="en-US" sz="3200" dirty="0"/>
              <a:t>. </a:t>
            </a:r>
          </a:p>
        </p:txBody>
      </p:sp>
      <p:pic>
        <p:nvPicPr>
          <p:cNvPr id="4" name="Picture 6" descr="Big Data - Distributed Computing and Hadoop - YouTube"/>
          <p:cNvPicPr>
            <a:picLocks noChangeAspect="1" noChangeArrowheads="1"/>
          </p:cNvPicPr>
          <p:nvPr/>
        </p:nvPicPr>
        <p:blipFill rotWithShape="1">
          <a:blip r:embed="rId2">
            <a:extLst>
              <a:ext uri="{28A0092B-C50C-407E-A947-70E740481C1C}">
                <a14:useLocalDpi xmlns:a14="http://schemas.microsoft.com/office/drawing/2010/main" val="0"/>
              </a:ext>
            </a:extLst>
          </a:blip>
          <a:srcRect r="48776"/>
          <a:stretch/>
        </p:blipFill>
        <p:spPr bwMode="auto">
          <a:xfrm>
            <a:off x="5715001" y="4419600"/>
            <a:ext cx="2590800" cy="22363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59450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76200"/>
            <a:ext cx="7848600" cy="1143000"/>
          </a:xfrm>
        </p:spPr>
        <p:txBody>
          <a:bodyPr>
            <a:normAutofit/>
          </a:bodyPr>
          <a:lstStyle/>
          <a:p>
            <a:r>
              <a:rPr lang="en-US" sz="3200" dirty="0">
                <a:solidFill>
                  <a:srgbClr val="C00000"/>
                </a:solidFill>
                <a:latin typeface="Arial Rounded MT Bold" pitchFamily="34" charset="0"/>
              </a:rPr>
              <a:t>Main benefits of distributed </a:t>
            </a:r>
            <a:r>
              <a:rPr lang="en-US" sz="3200" dirty="0" smtClean="0">
                <a:solidFill>
                  <a:srgbClr val="C00000"/>
                </a:solidFill>
                <a:latin typeface="Arial Rounded MT Bold" pitchFamily="34" charset="0"/>
              </a:rPr>
              <a:t>computing</a:t>
            </a:r>
            <a:endParaRPr lang="en-US" sz="3200" dirty="0">
              <a:solidFill>
                <a:srgbClr val="C00000"/>
              </a:solidFill>
              <a:latin typeface="Arial Rounded MT Bold" pitchFamily="34" charset="0"/>
            </a:endParaRPr>
          </a:p>
        </p:txBody>
      </p:sp>
      <p:sp>
        <p:nvSpPr>
          <p:cNvPr id="3" name="Content Placeholder 2"/>
          <p:cNvSpPr>
            <a:spLocks noGrp="1"/>
          </p:cNvSpPr>
          <p:nvPr>
            <p:ph sz="quarter" idx="1"/>
          </p:nvPr>
        </p:nvSpPr>
        <p:spPr>
          <a:xfrm>
            <a:off x="685800" y="1295400"/>
            <a:ext cx="8229600" cy="4572000"/>
          </a:xfrm>
        </p:spPr>
        <p:txBody>
          <a:bodyPr>
            <a:noAutofit/>
          </a:bodyPr>
          <a:lstStyle/>
          <a:p>
            <a:pPr lvl="1">
              <a:lnSpc>
                <a:spcPct val="150000"/>
              </a:lnSpc>
            </a:pPr>
            <a:r>
              <a:rPr lang="en-US" sz="2800" b="1" dirty="0"/>
              <a:t>Performance</a:t>
            </a:r>
            <a:r>
              <a:rPr lang="en-US" sz="2800" dirty="0"/>
              <a:t>: supports intensive workloads by spreading tasks </a:t>
            </a:r>
            <a:r>
              <a:rPr lang="en-US" sz="2800" dirty="0" smtClean="0"/>
              <a:t>across nodes</a:t>
            </a:r>
            <a:endParaRPr lang="en-US" sz="2800" dirty="0"/>
          </a:p>
          <a:p>
            <a:pPr lvl="1">
              <a:lnSpc>
                <a:spcPct val="150000"/>
              </a:lnSpc>
            </a:pPr>
            <a:r>
              <a:rPr lang="en-US" sz="2800" b="1" dirty="0" smtClean="0"/>
              <a:t>Scalability</a:t>
            </a:r>
            <a:r>
              <a:rPr lang="en-US" sz="2800" dirty="0"/>
              <a:t>: new nodes can be added to increase </a:t>
            </a:r>
            <a:r>
              <a:rPr lang="en-US" sz="2800" dirty="0" smtClean="0"/>
              <a:t>capacity</a:t>
            </a:r>
            <a:endParaRPr lang="en-US" sz="2800" dirty="0"/>
          </a:p>
          <a:p>
            <a:pPr lvl="1">
              <a:lnSpc>
                <a:spcPct val="150000"/>
              </a:lnSpc>
            </a:pPr>
            <a:r>
              <a:rPr lang="en-US" sz="2800" b="1" dirty="0" smtClean="0"/>
              <a:t>Fault </a:t>
            </a:r>
            <a:r>
              <a:rPr lang="en-US" sz="2800" b="1" dirty="0"/>
              <a:t>tolerance</a:t>
            </a:r>
            <a:r>
              <a:rPr lang="en-US" sz="2800" dirty="0"/>
              <a:t>: resilience in case of hardware failures </a:t>
            </a:r>
            <a:br>
              <a:rPr lang="en-US" sz="2800" dirty="0"/>
            </a:br>
            <a:endParaRPr lang="en-US" sz="2800" dirty="0"/>
          </a:p>
        </p:txBody>
      </p:sp>
    </p:spTree>
    <p:extLst>
      <p:ext uri="{BB962C8B-B14F-4D97-AF65-F5344CB8AC3E}">
        <p14:creationId xmlns:p14="http://schemas.microsoft.com/office/powerpoint/2010/main" val="5343474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000099"/>
        </a:solidFill>
        <a:effectLst/>
      </p:bgPr>
    </p:bg>
    <p:spTree>
      <p:nvGrpSpPr>
        <p:cNvPr id="1" name=""/>
        <p:cNvGrpSpPr/>
        <p:nvPr/>
      </p:nvGrpSpPr>
      <p:grpSpPr>
        <a:xfrm>
          <a:off x="0" y="0"/>
          <a:ext cx="0" cy="0"/>
          <a:chOff x="0" y="0"/>
          <a:chExt cx="0" cy="0"/>
        </a:xfrm>
      </p:grpSpPr>
      <p:pic>
        <p:nvPicPr>
          <p:cNvPr id="1028" name="Picture 4" descr="Apache Hadoop - Yahoo!デベロッパーネットワーク"/>
          <p:cNvPicPr>
            <a:picLocks noChangeAspect="1" noChangeArrowheads="1"/>
          </p:cNvPicPr>
          <p:nvPr/>
        </p:nvPicPr>
        <p:blipFill rotWithShape="1">
          <a:blip r:embed="rId2">
            <a:extLst>
              <a:ext uri="{28A0092B-C50C-407E-A947-70E740481C1C}">
                <a14:useLocalDpi xmlns:a14="http://schemas.microsoft.com/office/drawing/2010/main" val="0"/>
              </a:ext>
            </a:extLst>
          </a:blip>
          <a:srcRect t="25625"/>
          <a:stretch/>
        </p:blipFill>
        <p:spPr bwMode="auto">
          <a:xfrm>
            <a:off x="-838200" y="876299"/>
            <a:ext cx="9144000" cy="4533901"/>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4"/>
          <p:cNvSpPr>
            <a:spLocks noGrp="1"/>
          </p:cNvSpPr>
          <p:nvPr>
            <p:ph type="body" idx="1"/>
          </p:nvPr>
        </p:nvSpPr>
        <p:spPr>
          <a:xfrm>
            <a:off x="762000" y="3767138"/>
            <a:ext cx="8610600" cy="1338262"/>
          </a:xfrm>
        </p:spPr>
        <p:txBody>
          <a:bodyPr>
            <a:normAutofit/>
          </a:bodyPr>
          <a:lstStyle/>
          <a:p>
            <a:pPr algn="ctr"/>
            <a:r>
              <a:rPr lang="en-US" sz="3600" b="1" dirty="0" smtClean="0">
                <a:solidFill>
                  <a:srgbClr val="C00000"/>
                </a:solidFill>
                <a:latin typeface="Arial Rounded MT Bold" pitchFamily="34" charset="0"/>
              </a:rPr>
              <a:t>Distributed Computing Architecture </a:t>
            </a:r>
            <a:endParaRPr lang="en-US" sz="3600" dirty="0">
              <a:solidFill>
                <a:srgbClr val="C00000"/>
              </a:solidFill>
              <a:latin typeface="Arial Rounded MT Bold" pitchFamily="34" charset="0"/>
            </a:endParaRPr>
          </a:p>
        </p:txBody>
      </p:sp>
    </p:spTree>
    <p:extLst>
      <p:ext uri="{BB962C8B-B14F-4D97-AF65-F5344CB8AC3E}">
        <p14:creationId xmlns:p14="http://schemas.microsoft.com/office/powerpoint/2010/main" val="37877497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077200" cy="1143000"/>
          </a:xfrm>
        </p:spPr>
        <p:txBody>
          <a:bodyPr>
            <a:normAutofit/>
          </a:bodyPr>
          <a:lstStyle/>
          <a:p>
            <a:r>
              <a:rPr lang="en-US" sz="3200" b="1" dirty="0" err="1">
                <a:solidFill>
                  <a:srgbClr val="C00000"/>
                </a:solidFill>
                <a:latin typeface="Arial Rounded MT Bold" pitchFamily="34" charset="0"/>
              </a:rPr>
              <a:t>Hadoop</a:t>
            </a:r>
            <a:r>
              <a:rPr lang="en-US" sz="3200" b="1" dirty="0">
                <a:solidFill>
                  <a:srgbClr val="C00000"/>
                </a:solidFill>
                <a:latin typeface="Arial Rounded MT Bold" pitchFamily="34" charset="0"/>
              </a:rPr>
              <a:t> for distributed data </a:t>
            </a:r>
            <a:r>
              <a:rPr lang="en-US" sz="3200" b="1" dirty="0" smtClean="0">
                <a:solidFill>
                  <a:srgbClr val="C00000"/>
                </a:solidFill>
                <a:latin typeface="Arial Rounded MT Bold" pitchFamily="34" charset="0"/>
              </a:rPr>
              <a:t>processing</a:t>
            </a:r>
            <a:endParaRPr lang="en-US" sz="3200" b="1" dirty="0">
              <a:solidFill>
                <a:srgbClr val="C00000"/>
              </a:solidFill>
              <a:latin typeface="Arial Rounded MT Bold" pitchFamily="34" charset="0"/>
            </a:endParaRPr>
          </a:p>
        </p:txBody>
      </p:sp>
      <p:sp>
        <p:nvSpPr>
          <p:cNvPr id="5" name="Content Placeholder 4"/>
          <p:cNvSpPr>
            <a:spLocks noGrp="1"/>
          </p:cNvSpPr>
          <p:nvPr>
            <p:ph sz="quarter" idx="1"/>
          </p:nvPr>
        </p:nvSpPr>
        <p:spPr/>
        <p:txBody>
          <a:bodyPr>
            <a:normAutofit/>
          </a:bodyPr>
          <a:lstStyle/>
          <a:p>
            <a:r>
              <a:rPr lang="en-US" b="1" dirty="0" err="1"/>
              <a:t>Hadoop</a:t>
            </a:r>
            <a:r>
              <a:rPr lang="en-US" dirty="0"/>
              <a:t> is a framework for running jobs on </a:t>
            </a:r>
            <a:r>
              <a:rPr lang="en-US" b="1" u="sng" dirty="0">
                <a:solidFill>
                  <a:srgbClr val="0070C0"/>
                </a:solidFill>
              </a:rPr>
              <a:t>clusters</a:t>
            </a:r>
            <a:r>
              <a:rPr lang="en-US" dirty="0">
                <a:solidFill>
                  <a:srgbClr val="0070C0"/>
                </a:solidFill>
              </a:rPr>
              <a:t> </a:t>
            </a:r>
            <a:r>
              <a:rPr lang="en-US" dirty="0"/>
              <a:t>of computers </a:t>
            </a:r>
            <a:r>
              <a:rPr lang="en-US" dirty="0" smtClean="0"/>
              <a:t>that provides </a:t>
            </a:r>
            <a:r>
              <a:rPr lang="en-US" dirty="0"/>
              <a:t>a good abstraction of the underlying hardware and software.</a:t>
            </a:r>
            <a:br>
              <a:rPr lang="en-US" dirty="0"/>
            </a:br>
            <a:endParaRPr lang="en-US" dirty="0"/>
          </a:p>
        </p:txBody>
      </p:sp>
      <p:pic>
        <p:nvPicPr>
          <p:cNvPr id="2050" name="Picture 2" descr="Top 6 Hadoop Vendors Providing Big Data Solutions - Intellipaat Blog"/>
          <p:cNvPicPr>
            <a:picLocks noChangeAspect="1" noChangeArrowheads="1"/>
          </p:cNvPicPr>
          <p:nvPr/>
        </p:nvPicPr>
        <p:blipFill rotWithShape="1">
          <a:blip r:embed="rId2">
            <a:extLst>
              <a:ext uri="{28A0092B-C50C-407E-A947-70E740481C1C}">
                <a14:useLocalDpi xmlns:a14="http://schemas.microsoft.com/office/drawing/2010/main" val="0"/>
              </a:ext>
            </a:extLst>
          </a:blip>
          <a:srcRect l="4625" r="16750"/>
          <a:stretch/>
        </p:blipFill>
        <p:spPr bwMode="auto">
          <a:xfrm>
            <a:off x="1704975" y="2895600"/>
            <a:ext cx="5991225" cy="3714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917675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077200" cy="1143000"/>
          </a:xfrm>
        </p:spPr>
        <p:txBody>
          <a:bodyPr>
            <a:normAutofit/>
          </a:bodyPr>
          <a:lstStyle/>
          <a:p>
            <a:r>
              <a:rPr lang="en-US" sz="3200" b="1" dirty="0" err="1">
                <a:solidFill>
                  <a:srgbClr val="C00000"/>
                </a:solidFill>
                <a:latin typeface="Arial Rounded MT Bold" pitchFamily="34" charset="0"/>
              </a:rPr>
              <a:t>Hadoop</a:t>
            </a:r>
            <a:r>
              <a:rPr lang="en-US" sz="3200" b="1" dirty="0">
                <a:solidFill>
                  <a:srgbClr val="C00000"/>
                </a:solidFill>
                <a:latin typeface="Arial Rounded MT Bold" pitchFamily="34" charset="0"/>
              </a:rPr>
              <a:t> </a:t>
            </a:r>
            <a:r>
              <a:rPr lang="en-US" sz="3200" b="1" dirty="0" smtClean="0">
                <a:solidFill>
                  <a:srgbClr val="C00000"/>
                </a:solidFill>
                <a:latin typeface="Arial Rounded MT Bold" pitchFamily="34" charset="0"/>
              </a:rPr>
              <a:t>Features</a:t>
            </a:r>
            <a:endParaRPr lang="en-US" sz="3200" b="1" dirty="0">
              <a:solidFill>
                <a:srgbClr val="C00000"/>
              </a:solidFill>
              <a:latin typeface="Arial Rounded MT Bold" pitchFamily="34" charset="0"/>
            </a:endParaRPr>
          </a:p>
        </p:txBody>
      </p:sp>
      <p:sp>
        <p:nvSpPr>
          <p:cNvPr id="5" name="Content Placeholder 4"/>
          <p:cNvSpPr>
            <a:spLocks noGrp="1"/>
          </p:cNvSpPr>
          <p:nvPr>
            <p:ph sz="quarter" idx="1"/>
          </p:nvPr>
        </p:nvSpPr>
        <p:spPr/>
        <p:txBody>
          <a:bodyPr>
            <a:normAutofit/>
          </a:bodyPr>
          <a:lstStyle/>
          <a:p>
            <a:r>
              <a:rPr lang="en-US" b="1" dirty="0" err="1" smtClean="0">
                <a:solidFill>
                  <a:srgbClr val="0070C0"/>
                </a:solidFill>
              </a:rPr>
              <a:t>Hadoop</a:t>
            </a:r>
            <a:r>
              <a:rPr lang="en-US" dirty="0" smtClean="0">
                <a:solidFill>
                  <a:srgbClr val="0070C0"/>
                </a:solidFill>
              </a:rPr>
              <a:t> </a:t>
            </a:r>
            <a:r>
              <a:rPr lang="en-US" dirty="0"/>
              <a:t>is an open-source project of the Apache Software </a:t>
            </a:r>
            <a:r>
              <a:rPr lang="en-US" dirty="0" smtClean="0"/>
              <a:t>Foundation.</a:t>
            </a:r>
          </a:p>
          <a:p>
            <a:r>
              <a:rPr lang="en-US" dirty="0" smtClean="0"/>
              <a:t>The </a:t>
            </a:r>
            <a:r>
              <a:rPr lang="en-US" dirty="0"/>
              <a:t>project was created to facilitate computations involving </a:t>
            </a:r>
            <a:r>
              <a:rPr lang="en-US" dirty="0" smtClean="0"/>
              <a:t>massive amounts </a:t>
            </a:r>
            <a:r>
              <a:rPr lang="en-US" dirty="0"/>
              <a:t>of </a:t>
            </a:r>
            <a:r>
              <a:rPr lang="en-US" dirty="0" smtClean="0"/>
              <a:t>data.</a:t>
            </a:r>
          </a:p>
          <a:p>
            <a:r>
              <a:rPr lang="en-US" dirty="0" smtClean="0"/>
              <a:t>Its </a:t>
            </a:r>
            <a:r>
              <a:rPr lang="en-US" dirty="0"/>
              <a:t>core components are implemented in </a:t>
            </a:r>
            <a:r>
              <a:rPr lang="en-US" dirty="0" smtClean="0"/>
              <a:t>Java</a:t>
            </a:r>
            <a:r>
              <a:rPr lang="en-US" dirty="0"/>
              <a:t> </a:t>
            </a:r>
            <a:r>
              <a:rPr lang="en-US" dirty="0" smtClean="0"/>
              <a:t>initially </a:t>
            </a:r>
            <a:r>
              <a:rPr lang="en-US" dirty="0"/>
              <a:t>released in </a:t>
            </a:r>
            <a:r>
              <a:rPr lang="en-US" dirty="0" smtClean="0"/>
              <a:t>2004. </a:t>
            </a:r>
            <a:endParaRPr lang="en-US" dirty="0" smtClean="0"/>
          </a:p>
          <a:p>
            <a:r>
              <a:rPr lang="en-US" dirty="0" smtClean="0"/>
              <a:t>Last </a:t>
            </a:r>
            <a:r>
              <a:rPr lang="en-US" dirty="0"/>
              <a:t>stable version is </a:t>
            </a:r>
            <a:r>
              <a:rPr lang="en-US" dirty="0" smtClean="0"/>
              <a:t>3.4.2 </a:t>
            </a:r>
            <a:r>
              <a:rPr lang="en-US" dirty="0"/>
              <a:t>from </a:t>
            </a:r>
            <a:r>
              <a:rPr lang="en-US" dirty="0" smtClean="0"/>
              <a:t>August</a:t>
            </a:r>
            <a:r>
              <a:rPr lang="en-US" dirty="0" smtClean="0"/>
              <a:t> 2025 </a:t>
            </a:r>
            <a:r>
              <a:rPr lang="en-US" dirty="0"/>
              <a:t>originally inspired by Google‘s </a:t>
            </a:r>
            <a:r>
              <a:rPr lang="en-US" dirty="0" err="1" smtClean="0"/>
              <a:t>MapReduce</a:t>
            </a:r>
            <a:r>
              <a:rPr lang="en-US" dirty="0" smtClean="0"/>
              <a:t> </a:t>
            </a:r>
            <a:r>
              <a:rPr lang="en-US" dirty="0"/>
              <a:t>and the proprietary GFS</a:t>
            </a:r>
            <a:br>
              <a:rPr lang="en-US" dirty="0"/>
            </a:br>
            <a:r>
              <a:rPr lang="en-US" dirty="0"/>
              <a:t>(Google File System) </a:t>
            </a:r>
            <a:br>
              <a:rPr lang="en-US" dirty="0"/>
            </a:br>
            <a:endParaRPr lang="en-US" dirty="0"/>
          </a:p>
        </p:txBody>
      </p:sp>
    </p:spTree>
    <p:extLst>
      <p:ext uri="{BB962C8B-B14F-4D97-AF65-F5344CB8AC3E}">
        <p14:creationId xmlns:p14="http://schemas.microsoft.com/office/powerpoint/2010/main" val="39125113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077200" cy="1143000"/>
          </a:xfrm>
        </p:spPr>
        <p:txBody>
          <a:bodyPr>
            <a:normAutofit/>
          </a:bodyPr>
          <a:lstStyle/>
          <a:p>
            <a:r>
              <a:rPr lang="en-US" sz="3200" b="1" dirty="0" err="1">
                <a:solidFill>
                  <a:srgbClr val="C00000"/>
                </a:solidFill>
                <a:latin typeface="Arial Rounded MT Bold" pitchFamily="34" charset="0"/>
              </a:rPr>
              <a:t>Hadoop</a:t>
            </a:r>
            <a:r>
              <a:rPr lang="en-US" sz="3200" b="1" dirty="0">
                <a:solidFill>
                  <a:srgbClr val="C00000"/>
                </a:solidFill>
                <a:latin typeface="Arial Rounded MT Bold" pitchFamily="34" charset="0"/>
              </a:rPr>
              <a:t> </a:t>
            </a:r>
            <a:r>
              <a:rPr lang="en-US" sz="3200" b="1" dirty="0" smtClean="0">
                <a:solidFill>
                  <a:srgbClr val="C00000"/>
                </a:solidFill>
                <a:latin typeface="Arial Rounded MT Bold" pitchFamily="34" charset="0"/>
              </a:rPr>
              <a:t>Features</a:t>
            </a:r>
            <a:endParaRPr lang="en-US" sz="3200" b="1" dirty="0">
              <a:solidFill>
                <a:srgbClr val="C00000"/>
              </a:solidFill>
              <a:latin typeface="Arial Rounded MT Bold" pitchFamily="34" charset="0"/>
            </a:endParaRPr>
          </a:p>
        </p:txBody>
      </p:sp>
      <p:sp>
        <p:nvSpPr>
          <p:cNvPr id="5" name="Content Placeholder 4"/>
          <p:cNvSpPr>
            <a:spLocks noGrp="1"/>
          </p:cNvSpPr>
          <p:nvPr>
            <p:ph sz="quarter" idx="1"/>
          </p:nvPr>
        </p:nvSpPr>
        <p:spPr>
          <a:xfrm>
            <a:off x="838200" y="1447800"/>
            <a:ext cx="7848600" cy="4572000"/>
          </a:xfrm>
        </p:spPr>
        <p:txBody>
          <a:bodyPr>
            <a:normAutofit/>
          </a:bodyPr>
          <a:lstStyle/>
          <a:p>
            <a:r>
              <a:rPr lang="en-US" dirty="0" err="1"/>
              <a:t>Hadoop’s</a:t>
            </a:r>
            <a:r>
              <a:rPr lang="en-US" dirty="0"/>
              <a:t> features addressing the challenges of Big </a:t>
            </a:r>
            <a:r>
              <a:rPr lang="en-US" dirty="0" smtClean="0"/>
              <a:t>Data:</a:t>
            </a:r>
          </a:p>
          <a:p>
            <a:pPr lvl="1"/>
            <a:r>
              <a:rPr lang="en-US" dirty="0" smtClean="0"/>
              <a:t>Scalability</a:t>
            </a:r>
          </a:p>
          <a:p>
            <a:pPr lvl="1"/>
            <a:r>
              <a:rPr lang="en-US" dirty="0" smtClean="0"/>
              <a:t>Fault tolerance</a:t>
            </a:r>
          </a:p>
          <a:p>
            <a:pPr lvl="1"/>
            <a:r>
              <a:rPr lang="en-US" dirty="0" smtClean="0"/>
              <a:t>High availability</a:t>
            </a:r>
          </a:p>
          <a:p>
            <a:pPr lvl="1"/>
            <a:r>
              <a:rPr lang="en-US" dirty="0" smtClean="0"/>
              <a:t>Distributed cache/data locality</a:t>
            </a:r>
          </a:p>
          <a:p>
            <a:pPr lvl="1"/>
            <a:r>
              <a:rPr lang="en-US" dirty="0" smtClean="0"/>
              <a:t>Cost-effectiveness as it does not need high-end hardware</a:t>
            </a:r>
          </a:p>
          <a:p>
            <a:pPr lvl="1"/>
            <a:r>
              <a:rPr lang="en-US" dirty="0" smtClean="0"/>
              <a:t>Provides a good abstraction of the underlying hardware</a:t>
            </a:r>
          </a:p>
          <a:p>
            <a:pPr lvl="1"/>
            <a:r>
              <a:rPr lang="en-US" dirty="0" smtClean="0"/>
              <a:t>Easy to learn</a:t>
            </a:r>
          </a:p>
          <a:p>
            <a:pPr lvl="1"/>
            <a:r>
              <a:rPr lang="en-US" dirty="0" smtClean="0"/>
              <a:t>Data can be queried trough </a:t>
            </a:r>
            <a:r>
              <a:rPr lang="en-US" dirty="0" err="1" smtClean="0"/>
              <a:t>sql</a:t>
            </a:r>
            <a:r>
              <a:rPr lang="en-US" dirty="0" smtClean="0"/>
              <a:t>-like endpoints (hive, </a:t>
            </a:r>
            <a:r>
              <a:rPr lang="en-US" dirty="0" err="1" smtClean="0"/>
              <a:t>cassandra</a:t>
            </a:r>
            <a:r>
              <a:rPr lang="en-US" dirty="0" smtClean="0"/>
              <a:t>) </a:t>
            </a:r>
            <a:br>
              <a:rPr lang="en-US" dirty="0" smtClean="0"/>
            </a:br>
            <a:endParaRPr lang="en-US" dirty="0"/>
          </a:p>
        </p:txBody>
      </p:sp>
    </p:spTree>
    <p:extLst>
      <p:ext uri="{BB962C8B-B14F-4D97-AF65-F5344CB8AC3E}">
        <p14:creationId xmlns:p14="http://schemas.microsoft.com/office/powerpoint/2010/main" val="38248354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0"/>
            <a:ext cx="8077200" cy="1143000"/>
          </a:xfrm>
        </p:spPr>
        <p:txBody>
          <a:bodyPr>
            <a:normAutofit/>
          </a:bodyPr>
          <a:lstStyle/>
          <a:p>
            <a:r>
              <a:rPr lang="en-US" sz="3200" b="1" dirty="0" smtClean="0">
                <a:solidFill>
                  <a:srgbClr val="C00000"/>
                </a:solidFill>
                <a:latin typeface="Arial Rounded MT Bold" pitchFamily="34" charset="0"/>
              </a:rPr>
              <a:t>Important Features in </a:t>
            </a:r>
            <a:r>
              <a:rPr lang="en-US" sz="3200" b="1" dirty="0" err="1" smtClean="0">
                <a:solidFill>
                  <a:srgbClr val="C00000"/>
                </a:solidFill>
                <a:latin typeface="Arial Rounded MT Bold" pitchFamily="34" charset="0"/>
              </a:rPr>
              <a:t>Hadoop</a:t>
            </a:r>
            <a:endParaRPr lang="en-US" sz="3200" b="1" dirty="0">
              <a:solidFill>
                <a:srgbClr val="C00000"/>
              </a:solidFill>
              <a:latin typeface="Arial Rounded MT Bold" pitchFamily="34" charset="0"/>
            </a:endParaRPr>
          </a:p>
        </p:txBody>
      </p:sp>
      <p:sp>
        <p:nvSpPr>
          <p:cNvPr id="5" name="Content Placeholder 4"/>
          <p:cNvSpPr>
            <a:spLocks noGrp="1"/>
          </p:cNvSpPr>
          <p:nvPr>
            <p:ph sz="quarter" idx="1"/>
          </p:nvPr>
        </p:nvSpPr>
        <p:spPr>
          <a:xfrm>
            <a:off x="838200" y="1447800"/>
            <a:ext cx="7848600" cy="4572000"/>
          </a:xfrm>
        </p:spPr>
        <p:txBody>
          <a:bodyPr>
            <a:normAutofit/>
          </a:bodyPr>
          <a:lstStyle/>
          <a:p>
            <a:r>
              <a:rPr lang="en-US" b="1" i="1" dirty="0">
                <a:solidFill>
                  <a:srgbClr val="0070C0"/>
                </a:solidFill>
              </a:rPr>
              <a:t>fault tolerance</a:t>
            </a:r>
            <a:r>
              <a:rPr lang="en-US" dirty="0">
                <a:solidFill>
                  <a:srgbClr val="0070C0"/>
                </a:solidFill>
              </a:rPr>
              <a:t>:</a:t>
            </a:r>
            <a:r>
              <a:rPr lang="en-US" dirty="0"/>
              <a:t> the ability to withstand hardware or network </a:t>
            </a:r>
            <a:r>
              <a:rPr lang="en-US" dirty="0" smtClean="0"/>
              <a:t>failures (also</a:t>
            </a:r>
            <a:r>
              <a:rPr lang="en-US" dirty="0"/>
              <a:t>: </a:t>
            </a:r>
            <a:r>
              <a:rPr lang="en-US" i="1" dirty="0" smtClean="0"/>
              <a:t>resilience</a:t>
            </a:r>
            <a:r>
              <a:rPr lang="en-US" dirty="0" smtClean="0"/>
              <a:t>)</a:t>
            </a:r>
          </a:p>
          <a:p>
            <a:r>
              <a:rPr lang="en-US" b="1" i="1" dirty="0" smtClean="0">
                <a:solidFill>
                  <a:srgbClr val="0070C0"/>
                </a:solidFill>
              </a:rPr>
              <a:t>high </a:t>
            </a:r>
            <a:r>
              <a:rPr lang="en-US" b="1" i="1" dirty="0">
                <a:solidFill>
                  <a:srgbClr val="0070C0"/>
                </a:solidFill>
              </a:rPr>
              <a:t>availability</a:t>
            </a:r>
            <a:r>
              <a:rPr lang="en-US" dirty="0">
                <a:solidFill>
                  <a:srgbClr val="0070C0"/>
                </a:solidFill>
              </a:rPr>
              <a:t>:</a:t>
            </a:r>
            <a:r>
              <a:rPr lang="en-US" dirty="0"/>
              <a:t> this refers to the system </a:t>
            </a:r>
            <a:r>
              <a:rPr lang="en-US" b="1" dirty="0">
                <a:solidFill>
                  <a:srgbClr val="00CC00"/>
                </a:solidFill>
              </a:rPr>
              <a:t>minimizing downtimes </a:t>
            </a:r>
            <a:r>
              <a:rPr lang="en-US" dirty="0" smtClean="0"/>
              <a:t>by eliminating </a:t>
            </a:r>
            <a:r>
              <a:rPr lang="en-US" dirty="0"/>
              <a:t>single points of </a:t>
            </a:r>
            <a:r>
              <a:rPr lang="en-US" dirty="0" smtClean="0"/>
              <a:t>failure</a:t>
            </a:r>
          </a:p>
          <a:p>
            <a:r>
              <a:rPr lang="en-US" b="1" i="1" dirty="0" smtClean="0">
                <a:solidFill>
                  <a:srgbClr val="0070C0"/>
                </a:solidFill>
              </a:rPr>
              <a:t>data </a:t>
            </a:r>
            <a:r>
              <a:rPr lang="en-US" b="1" i="1" dirty="0">
                <a:solidFill>
                  <a:srgbClr val="0070C0"/>
                </a:solidFill>
              </a:rPr>
              <a:t>locality</a:t>
            </a:r>
            <a:r>
              <a:rPr lang="en-US" dirty="0">
                <a:solidFill>
                  <a:srgbClr val="0070C0"/>
                </a:solidFill>
              </a:rPr>
              <a:t>: </a:t>
            </a:r>
            <a:r>
              <a:rPr lang="en-US" b="1" dirty="0" smtClean="0">
                <a:solidFill>
                  <a:srgbClr val="FF0000"/>
                </a:solidFill>
              </a:rPr>
              <a:t>tasks</a:t>
            </a:r>
            <a:r>
              <a:rPr lang="en-US" dirty="0" smtClean="0"/>
              <a:t> </a:t>
            </a:r>
            <a:r>
              <a:rPr lang="en-US" dirty="0"/>
              <a:t>are run on the node where </a:t>
            </a:r>
            <a:r>
              <a:rPr lang="en-US" b="1" dirty="0">
                <a:solidFill>
                  <a:srgbClr val="FF0000"/>
                </a:solidFill>
              </a:rPr>
              <a:t>data</a:t>
            </a:r>
            <a:r>
              <a:rPr lang="en-US" dirty="0">
                <a:solidFill>
                  <a:srgbClr val="FF0000"/>
                </a:solidFill>
              </a:rPr>
              <a:t> </a:t>
            </a:r>
            <a:r>
              <a:rPr lang="en-US" dirty="0" smtClean="0"/>
              <a:t>are located</a:t>
            </a:r>
            <a:r>
              <a:rPr lang="en-US" dirty="0"/>
              <a:t>, </a:t>
            </a:r>
            <a:r>
              <a:rPr lang="en-US" dirty="0" smtClean="0"/>
              <a:t>in order </a:t>
            </a:r>
            <a:r>
              <a:rPr lang="en-US" dirty="0"/>
              <a:t>to reduce the cost of moving data around </a:t>
            </a:r>
            <a:br>
              <a:rPr lang="en-US" dirty="0"/>
            </a:br>
            <a:endParaRPr lang="en-US" dirty="0"/>
          </a:p>
        </p:txBody>
      </p:sp>
    </p:spTree>
    <p:extLst>
      <p:ext uri="{BB962C8B-B14F-4D97-AF65-F5344CB8AC3E}">
        <p14:creationId xmlns:p14="http://schemas.microsoft.com/office/powerpoint/2010/main" val="1532027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adoop Architecture in Detail - HDFS, Yarn &amp; MapReduce"/>
          <p:cNvPicPr>
            <a:picLocks noChangeAspect="1" noChangeArrowheads="1"/>
          </p:cNvPicPr>
          <p:nvPr/>
        </p:nvPicPr>
        <p:blipFill rotWithShape="1">
          <a:blip r:embed="rId2">
            <a:extLst>
              <a:ext uri="{28A0092B-C50C-407E-A947-70E740481C1C}">
                <a14:useLocalDpi xmlns:a14="http://schemas.microsoft.com/office/drawing/2010/main" val="0"/>
              </a:ext>
            </a:extLst>
          </a:blip>
          <a:srcRect t="8530" b="5921"/>
          <a:stretch/>
        </p:blipFill>
        <p:spPr bwMode="auto">
          <a:xfrm>
            <a:off x="1600200" y="3514725"/>
            <a:ext cx="7467600" cy="33432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914400" y="-76200"/>
            <a:ext cx="7772400" cy="1143000"/>
          </a:xfrm>
        </p:spPr>
        <p:txBody>
          <a:bodyPr/>
          <a:lstStyle/>
          <a:p>
            <a:r>
              <a:rPr lang="en-US" dirty="0" err="1" smtClean="0">
                <a:solidFill>
                  <a:srgbClr val="C00000"/>
                </a:solidFill>
                <a:latin typeface="Arial Rounded MT Bold" pitchFamily="34" charset="0"/>
              </a:rPr>
              <a:t>Hadoop</a:t>
            </a:r>
            <a:r>
              <a:rPr lang="en-US" dirty="0" smtClean="0">
                <a:solidFill>
                  <a:srgbClr val="C00000"/>
                </a:solidFill>
                <a:latin typeface="Arial Rounded MT Bold" pitchFamily="34" charset="0"/>
              </a:rPr>
              <a:t> Ecosystem</a:t>
            </a:r>
            <a:endParaRPr lang="en-US" dirty="0">
              <a:solidFill>
                <a:srgbClr val="C00000"/>
              </a:solidFill>
              <a:latin typeface="Arial Rounded MT Bold" pitchFamily="34" charset="0"/>
            </a:endParaRPr>
          </a:p>
        </p:txBody>
      </p:sp>
      <p:sp>
        <p:nvSpPr>
          <p:cNvPr id="3" name="Content Placeholder 2"/>
          <p:cNvSpPr>
            <a:spLocks noGrp="1"/>
          </p:cNvSpPr>
          <p:nvPr>
            <p:ph sz="quarter" idx="1"/>
          </p:nvPr>
        </p:nvSpPr>
        <p:spPr>
          <a:xfrm>
            <a:off x="685800" y="1219200"/>
            <a:ext cx="7924800" cy="4572000"/>
          </a:xfrm>
        </p:spPr>
        <p:txBody>
          <a:bodyPr/>
          <a:lstStyle/>
          <a:p>
            <a:r>
              <a:rPr lang="en-US" b="1" dirty="0">
                <a:solidFill>
                  <a:srgbClr val="0033CC"/>
                </a:solidFill>
              </a:rPr>
              <a:t>The core of </a:t>
            </a:r>
            <a:r>
              <a:rPr lang="en-US" b="1" dirty="0" err="1">
                <a:solidFill>
                  <a:srgbClr val="0033CC"/>
                </a:solidFill>
              </a:rPr>
              <a:t>Hadoop</a:t>
            </a:r>
            <a:r>
              <a:rPr lang="en-US" b="1" dirty="0">
                <a:solidFill>
                  <a:srgbClr val="0033CC"/>
                </a:solidFill>
              </a:rPr>
              <a:t> consists </a:t>
            </a:r>
            <a:r>
              <a:rPr lang="en-US" b="1" dirty="0" smtClean="0">
                <a:solidFill>
                  <a:srgbClr val="0033CC"/>
                </a:solidFill>
              </a:rPr>
              <a:t>of:</a:t>
            </a:r>
          </a:p>
          <a:p>
            <a:pPr lvl="1"/>
            <a:r>
              <a:rPr lang="en-US" b="1" dirty="0" err="1" smtClean="0">
                <a:solidFill>
                  <a:srgbClr val="FF0000"/>
                </a:solidFill>
              </a:rPr>
              <a:t>Hadoop</a:t>
            </a:r>
            <a:r>
              <a:rPr lang="en-US" dirty="0" smtClean="0">
                <a:solidFill>
                  <a:srgbClr val="FF0000"/>
                </a:solidFill>
              </a:rPr>
              <a:t> </a:t>
            </a:r>
            <a:r>
              <a:rPr lang="en-US" dirty="0"/>
              <a:t>common, the core </a:t>
            </a:r>
            <a:r>
              <a:rPr lang="en-US" dirty="0" smtClean="0"/>
              <a:t>libraries</a:t>
            </a:r>
          </a:p>
          <a:p>
            <a:pPr lvl="1"/>
            <a:r>
              <a:rPr lang="en-US" b="1" dirty="0" smtClean="0">
                <a:solidFill>
                  <a:srgbClr val="FF0000"/>
                </a:solidFill>
              </a:rPr>
              <a:t>HDFS</a:t>
            </a:r>
            <a:r>
              <a:rPr lang="en-US" dirty="0"/>
              <a:t>, the </a:t>
            </a:r>
            <a:r>
              <a:rPr lang="en-US" dirty="0" err="1"/>
              <a:t>Hadoop</a:t>
            </a:r>
            <a:r>
              <a:rPr lang="en-US" dirty="0"/>
              <a:t> Distributed File </a:t>
            </a:r>
            <a:r>
              <a:rPr lang="en-US" dirty="0" smtClean="0"/>
              <a:t>System</a:t>
            </a:r>
          </a:p>
          <a:p>
            <a:pPr lvl="1"/>
            <a:r>
              <a:rPr lang="en-US" b="1" dirty="0" err="1" smtClean="0">
                <a:solidFill>
                  <a:srgbClr val="FF0000"/>
                </a:solidFill>
              </a:rPr>
              <a:t>MapReduce</a:t>
            </a:r>
            <a:endParaRPr lang="en-US" b="1" dirty="0">
              <a:solidFill>
                <a:srgbClr val="FF0000"/>
              </a:solidFill>
            </a:endParaRPr>
          </a:p>
          <a:p>
            <a:pPr lvl="1"/>
            <a:r>
              <a:rPr lang="en-US" b="1" dirty="0" smtClean="0">
                <a:solidFill>
                  <a:srgbClr val="FF0000"/>
                </a:solidFill>
              </a:rPr>
              <a:t>YARN</a:t>
            </a:r>
            <a:r>
              <a:rPr lang="en-US" dirty="0" smtClean="0">
                <a:solidFill>
                  <a:srgbClr val="FF0000"/>
                </a:solidFill>
              </a:rPr>
              <a:t> </a:t>
            </a:r>
            <a:r>
              <a:rPr lang="en-US" dirty="0"/>
              <a:t>(Yet Another Resource Negotiator) resource manager </a:t>
            </a:r>
            <a:br>
              <a:rPr lang="en-US" dirty="0"/>
            </a:br>
            <a:endParaRPr lang="en-US" dirty="0"/>
          </a:p>
        </p:txBody>
      </p:sp>
    </p:spTree>
    <p:extLst>
      <p:ext uri="{BB962C8B-B14F-4D97-AF65-F5344CB8AC3E}">
        <p14:creationId xmlns:p14="http://schemas.microsoft.com/office/powerpoint/2010/main" val="17158525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772400" cy="1143000"/>
          </a:xfrm>
        </p:spPr>
        <p:txBody>
          <a:bodyPr/>
          <a:lstStyle/>
          <a:p>
            <a:r>
              <a:rPr lang="en-US" dirty="0" err="1" smtClean="0">
                <a:solidFill>
                  <a:srgbClr val="C00000"/>
                </a:solidFill>
                <a:latin typeface="Arial Rounded MT Bold" pitchFamily="34" charset="0"/>
              </a:rPr>
              <a:t>Hadoop</a:t>
            </a:r>
            <a:r>
              <a:rPr lang="en-US" dirty="0" smtClean="0">
                <a:solidFill>
                  <a:srgbClr val="C00000"/>
                </a:solidFill>
                <a:latin typeface="Arial Rounded MT Bold" pitchFamily="34" charset="0"/>
              </a:rPr>
              <a:t> Ecosystem</a:t>
            </a:r>
            <a:endParaRPr lang="en-US" dirty="0">
              <a:solidFill>
                <a:srgbClr val="C00000"/>
              </a:solidFill>
              <a:latin typeface="Arial Rounded MT Bold" pitchFamily="34" charset="0"/>
            </a:endParaRPr>
          </a:p>
        </p:txBody>
      </p:sp>
      <p:pic>
        <p:nvPicPr>
          <p:cNvPr id="7172" name="Picture 4" descr="Cloudera Hadoop Tutorial | Getting Started with CDH Distribution | Edureka"/>
          <p:cNvPicPr>
            <a:picLocks noChangeAspect="1" noChangeArrowheads="1"/>
          </p:cNvPicPr>
          <p:nvPr/>
        </p:nvPicPr>
        <p:blipFill rotWithShape="1">
          <a:blip r:embed="rId2">
            <a:extLst>
              <a:ext uri="{28A0092B-C50C-407E-A947-70E740481C1C}">
                <a14:useLocalDpi xmlns:a14="http://schemas.microsoft.com/office/drawing/2010/main" val="0"/>
              </a:ext>
            </a:extLst>
          </a:blip>
          <a:srcRect t="8889" b="6011"/>
          <a:stretch/>
        </p:blipFill>
        <p:spPr bwMode="auto">
          <a:xfrm>
            <a:off x="914401" y="1066800"/>
            <a:ext cx="76200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8093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1. Data Integration</a:t>
            </a:r>
            <a:endParaRPr lang="en-US" b="1" dirty="0">
              <a:solidFill>
                <a:srgbClr val="FF0000"/>
              </a:solidFill>
            </a:endParaRPr>
          </a:p>
        </p:txBody>
      </p:sp>
      <p:sp>
        <p:nvSpPr>
          <p:cNvPr id="3" name="Content Placeholder 2"/>
          <p:cNvSpPr>
            <a:spLocks noGrp="1"/>
          </p:cNvSpPr>
          <p:nvPr>
            <p:ph sz="quarter" idx="1"/>
          </p:nvPr>
        </p:nvSpPr>
        <p:spPr>
          <a:xfrm>
            <a:off x="381000" y="1447800"/>
            <a:ext cx="8305800" cy="4572000"/>
          </a:xfrm>
        </p:spPr>
        <p:txBody>
          <a:bodyPr>
            <a:normAutofit/>
          </a:bodyPr>
          <a:lstStyle/>
          <a:p>
            <a:pPr marL="0" indent="0" algn="ctr">
              <a:buNone/>
            </a:pPr>
            <a:r>
              <a:rPr lang="en-US" sz="2800" b="1" dirty="0" err="1">
                <a:solidFill>
                  <a:srgbClr val="0033CC"/>
                </a:solidFill>
                <a:latin typeface="Arial Black" pitchFamily="34" charset="0"/>
              </a:rPr>
              <a:t>Sqoop</a:t>
            </a:r>
            <a:r>
              <a:rPr lang="en-US" sz="2800" b="1" dirty="0">
                <a:solidFill>
                  <a:srgbClr val="0033CC"/>
                </a:solidFill>
              </a:rPr>
              <a:t> </a:t>
            </a:r>
            <a:r>
              <a:rPr lang="en-US" sz="2800" b="1" dirty="0" err="1"/>
              <a:t>vs</a:t>
            </a:r>
            <a:r>
              <a:rPr lang="en-US" sz="2800" b="1" dirty="0"/>
              <a:t> </a:t>
            </a:r>
            <a:r>
              <a:rPr lang="en-US" sz="2800" b="1" dirty="0">
                <a:solidFill>
                  <a:srgbClr val="0033CC"/>
                </a:solidFill>
                <a:latin typeface="Arial Black" pitchFamily="34" charset="0"/>
              </a:rPr>
              <a:t>Flume</a:t>
            </a:r>
          </a:p>
          <a:p>
            <a:pPr marL="0" indent="0" algn="ctr">
              <a:buNone/>
            </a:pPr>
            <a:r>
              <a:rPr lang="en-US" sz="2800" b="1" dirty="0" err="1"/>
              <a:t>Hadoop</a:t>
            </a:r>
            <a:r>
              <a:rPr lang="en-US" sz="2800" b="1" dirty="0"/>
              <a:t> ETL(extract, transform, and </a:t>
            </a:r>
            <a:r>
              <a:rPr lang="en-US" sz="2800" b="1" dirty="0" smtClean="0"/>
              <a:t>load data) </a:t>
            </a:r>
            <a:r>
              <a:rPr lang="en-US" sz="2800" b="1" dirty="0"/>
              <a:t>Tools</a:t>
            </a:r>
          </a:p>
          <a:p>
            <a:pPr marL="0" indent="0" algn="ctr">
              <a:buNone/>
            </a:pPr>
            <a:endParaRPr lang="en-US" sz="2800" dirty="0"/>
          </a:p>
        </p:txBody>
      </p:sp>
      <p:graphicFrame>
        <p:nvGraphicFramePr>
          <p:cNvPr id="4" name="Table 3"/>
          <p:cNvGraphicFramePr>
            <a:graphicFrameLocks noGrp="1"/>
          </p:cNvGraphicFramePr>
          <p:nvPr>
            <p:extLst>
              <p:ext uri="{D42A27DB-BD31-4B8C-83A1-F6EECF244321}">
                <p14:modId xmlns:p14="http://schemas.microsoft.com/office/powerpoint/2010/main" val="1979332311"/>
              </p:ext>
            </p:extLst>
          </p:nvPr>
        </p:nvGraphicFramePr>
        <p:xfrm>
          <a:off x="457200" y="2590800"/>
          <a:ext cx="8458200" cy="3886200"/>
        </p:xfrm>
        <a:graphic>
          <a:graphicData uri="http://schemas.openxmlformats.org/drawingml/2006/table">
            <a:tbl>
              <a:tblPr firstRow="1" bandRow="1">
                <a:tableStyleId>{5DA37D80-6434-44D0-A028-1B22A696006F}</a:tableStyleId>
              </a:tblPr>
              <a:tblGrid>
                <a:gridCol w="4229100"/>
                <a:gridCol w="4229100"/>
              </a:tblGrid>
              <a:tr h="435522">
                <a:tc>
                  <a:txBody>
                    <a:bodyPr/>
                    <a:lstStyle/>
                    <a:p>
                      <a:r>
                        <a:rPr kumimoji="0" lang="en-US" sz="2200" kern="1200" dirty="0" smtClean="0">
                          <a:solidFill>
                            <a:schemeClr val="bg1"/>
                          </a:solidFill>
                          <a:effectLst/>
                        </a:rPr>
                        <a:t>Apache </a:t>
                      </a:r>
                      <a:r>
                        <a:rPr kumimoji="0" lang="en-US" sz="2200" kern="1200" dirty="0" err="1" smtClean="0">
                          <a:solidFill>
                            <a:schemeClr val="bg1"/>
                          </a:solidFill>
                          <a:effectLst/>
                        </a:rPr>
                        <a:t>Sqoop</a:t>
                      </a:r>
                      <a:endParaRPr lang="en-US" sz="2200" dirty="0">
                        <a:solidFill>
                          <a:schemeClr val="bg1"/>
                        </a:solidFill>
                      </a:endParaRPr>
                    </a:p>
                  </a:txBody>
                  <a:tcPr>
                    <a:solidFill>
                      <a:srgbClr val="C00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200" kern="1200" dirty="0" smtClean="0">
                          <a:solidFill>
                            <a:schemeClr val="bg1"/>
                          </a:solidFill>
                          <a:effectLst/>
                        </a:rPr>
                        <a:t>Apache Flume</a:t>
                      </a:r>
                      <a:endParaRPr kumimoji="0" lang="en-US" sz="2200" b="1" i="0" kern="1200" dirty="0" smtClean="0">
                        <a:solidFill>
                          <a:schemeClr val="bg1"/>
                        </a:solidFill>
                        <a:effectLst/>
                        <a:latin typeface="+mn-lt"/>
                        <a:ea typeface="+mn-ea"/>
                        <a:cs typeface="+mn-cs"/>
                      </a:endParaRPr>
                    </a:p>
                  </a:txBody>
                  <a:tcPr>
                    <a:solidFill>
                      <a:srgbClr val="C00000"/>
                    </a:solidFill>
                  </a:tcPr>
                </a:tc>
              </a:tr>
              <a:tr h="3450678">
                <a:tc>
                  <a:txBody>
                    <a:bodyPr/>
                    <a:lstStyle/>
                    <a:p>
                      <a:r>
                        <a:rPr kumimoji="0" lang="en-US" sz="2200" kern="1200" dirty="0" smtClean="0">
                          <a:effectLst/>
                        </a:rPr>
                        <a:t>Apache </a:t>
                      </a:r>
                      <a:r>
                        <a:rPr kumimoji="0" lang="en-US" sz="2200" kern="1200" dirty="0" err="1" smtClean="0">
                          <a:effectLst/>
                        </a:rPr>
                        <a:t>Sqoop</a:t>
                      </a:r>
                      <a:r>
                        <a:rPr kumimoji="0" lang="en-US" sz="2200" kern="1200" dirty="0" smtClean="0">
                          <a:effectLst/>
                        </a:rPr>
                        <a:t> is a tool used to transfer large amounts of data between Apache </a:t>
                      </a:r>
                      <a:r>
                        <a:rPr kumimoji="0" lang="en-US" sz="2200" kern="1200" dirty="0" err="1" smtClean="0">
                          <a:effectLst/>
                        </a:rPr>
                        <a:t>Hadoop</a:t>
                      </a:r>
                      <a:r>
                        <a:rPr kumimoji="0" lang="en-US" sz="2200" kern="1200" dirty="0" smtClean="0">
                          <a:effectLst/>
                        </a:rPr>
                        <a:t> and </a:t>
                      </a:r>
                      <a:r>
                        <a:rPr kumimoji="0" lang="en-US" sz="2200" b="1" kern="1200" dirty="0" smtClean="0">
                          <a:effectLst/>
                        </a:rPr>
                        <a:t>structured data stores</a:t>
                      </a:r>
                      <a:r>
                        <a:rPr kumimoji="0" lang="en-US" sz="2200" kern="1200" dirty="0" smtClean="0">
                          <a:effectLst/>
                        </a:rPr>
                        <a:t> such as relational databases, data warehouses, and </a:t>
                      </a:r>
                      <a:r>
                        <a:rPr kumimoji="0" lang="en-US" sz="2200" kern="1200" dirty="0" err="1" smtClean="0">
                          <a:effectLst/>
                        </a:rPr>
                        <a:t>NoSQL</a:t>
                      </a:r>
                      <a:r>
                        <a:rPr kumimoji="0" lang="en-US" sz="2200" kern="1200" dirty="0" smtClean="0">
                          <a:effectLst/>
                        </a:rPr>
                        <a:t> data stores.</a:t>
                      </a:r>
                      <a:endParaRPr kumimoji="0" lang="en-US" sz="2200" b="0" i="0" kern="1200" dirty="0" smtClean="0">
                        <a:solidFill>
                          <a:schemeClr val="dk1"/>
                        </a:solidFill>
                        <a:effectLst/>
                        <a:latin typeface="+mn-lt"/>
                        <a:ea typeface="+mn-ea"/>
                        <a:cs typeface="+mn-cs"/>
                      </a:endParaRPr>
                    </a:p>
                  </a:txBody>
                  <a:tcPr>
                    <a:solidFill>
                      <a:srgbClr val="F0E8E8"/>
                    </a:solidFill>
                  </a:tcPr>
                </a:tc>
                <a:tc>
                  <a:txBody>
                    <a:bodyPr/>
                    <a:lstStyle/>
                    <a:p>
                      <a:r>
                        <a:rPr kumimoji="0" lang="en-US" sz="2200" kern="1200" dirty="0" smtClean="0">
                          <a:effectLst/>
                        </a:rPr>
                        <a:t>Flume is a </a:t>
                      </a:r>
                      <a:r>
                        <a:rPr kumimoji="0" lang="en-US" sz="2200" b="1" kern="1200" dirty="0" smtClean="0">
                          <a:effectLst/>
                        </a:rPr>
                        <a:t>distributed</a:t>
                      </a:r>
                      <a:r>
                        <a:rPr kumimoji="0" lang="en-US" sz="2200" kern="1200" dirty="0" smtClean="0">
                          <a:effectLst/>
                        </a:rPr>
                        <a:t>, </a:t>
                      </a:r>
                      <a:r>
                        <a:rPr kumimoji="0" lang="en-US" sz="2200" b="1" kern="1200" dirty="0" smtClean="0">
                          <a:effectLst/>
                        </a:rPr>
                        <a:t>reliable</a:t>
                      </a:r>
                      <a:r>
                        <a:rPr kumimoji="0" lang="en-US" sz="2200" kern="1200" dirty="0" smtClean="0">
                          <a:effectLst/>
                        </a:rPr>
                        <a:t>, and </a:t>
                      </a:r>
                      <a:r>
                        <a:rPr kumimoji="0" lang="en-US" sz="2200" b="1" kern="1200" dirty="0" smtClean="0">
                          <a:effectLst/>
                        </a:rPr>
                        <a:t>available service </a:t>
                      </a:r>
                      <a:r>
                        <a:rPr kumimoji="0" lang="en-US" sz="2200" kern="1200" dirty="0" smtClean="0">
                          <a:effectLst/>
                        </a:rPr>
                        <a:t>for collecting, aggregating, and moving large amounts of log data. It has </a:t>
                      </a:r>
                      <a:r>
                        <a:rPr kumimoji="0" lang="en-US" sz="2200" b="1" kern="1200" dirty="0" smtClean="0">
                          <a:effectLst/>
                        </a:rPr>
                        <a:t>a simple and flexible </a:t>
                      </a:r>
                      <a:r>
                        <a:rPr kumimoji="0" lang="en-US" sz="2200" kern="1200" dirty="0" smtClean="0">
                          <a:effectLst/>
                        </a:rPr>
                        <a:t>architecture for </a:t>
                      </a:r>
                      <a:r>
                        <a:rPr kumimoji="0" lang="en-US" sz="2200" b="1" kern="1200" dirty="0" smtClean="0">
                          <a:effectLst/>
                        </a:rPr>
                        <a:t>streaming data flows (unstructured</a:t>
                      </a:r>
                      <a:r>
                        <a:rPr kumimoji="0" lang="en-US" sz="2200" b="1" kern="1200" baseline="0" dirty="0" smtClean="0">
                          <a:effectLst/>
                        </a:rPr>
                        <a:t> data)</a:t>
                      </a:r>
                      <a:r>
                        <a:rPr kumimoji="0" lang="en-US" sz="2200" kern="1200" dirty="0" smtClean="0">
                          <a:effectLst/>
                        </a:rPr>
                        <a:t>.</a:t>
                      </a:r>
                    </a:p>
                    <a:p>
                      <a:r>
                        <a:rPr kumimoji="0" lang="en-US" sz="2200" kern="1200" dirty="0" smtClean="0">
                          <a:effectLst/>
                        </a:rPr>
                        <a:t>Flume supports a wide range of data sources, including web servers, messaging systems, log files, and social media feeds. </a:t>
                      </a:r>
                      <a:endParaRPr lang="en-US" sz="2200" dirty="0"/>
                    </a:p>
                  </a:txBody>
                  <a:tcPr>
                    <a:solidFill>
                      <a:srgbClr val="F0E8E8"/>
                    </a:solidFill>
                  </a:tcPr>
                </a:tc>
              </a:tr>
            </a:tbl>
          </a:graphicData>
        </a:graphic>
      </p:graphicFrame>
    </p:spTree>
    <p:extLst>
      <p:ext uri="{BB962C8B-B14F-4D97-AF65-F5344CB8AC3E}">
        <p14:creationId xmlns:p14="http://schemas.microsoft.com/office/powerpoint/2010/main" val="234855092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7772400" cy="1143000"/>
          </a:xfrm>
        </p:spPr>
        <p:txBody>
          <a:bodyPr/>
          <a:lstStyle/>
          <a:p>
            <a:r>
              <a:rPr lang="en-US" b="1" dirty="0" smtClean="0">
                <a:solidFill>
                  <a:srgbClr val="FF0000"/>
                </a:solidFill>
              </a:rPr>
              <a:t>2. </a:t>
            </a:r>
            <a:r>
              <a:rPr lang="en-US" b="1" dirty="0" err="1" smtClean="0">
                <a:solidFill>
                  <a:srgbClr val="FF0000"/>
                </a:solidFill>
              </a:rPr>
              <a:t>Hadoop</a:t>
            </a:r>
            <a:r>
              <a:rPr lang="en-US" b="1" dirty="0" smtClean="0">
                <a:solidFill>
                  <a:srgbClr val="FF0000"/>
                </a:solidFill>
              </a:rPr>
              <a:t> Server Roles</a:t>
            </a:r>
            <a:endParaRPr lang="en-US" b="1" dirty="0">
              <a:solidFill>
                <a:srgbClr val="FF0000"/>
              </a:solidFill>
            </a:endParaRPr>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200" t="23334" r="5401" b="5334"/>
          <a:stretch/>
        </p:blipFill>
        <p:spPr bwMode="auto">
          <a:xfrm>
            <a:off x="304801" y="1295400"/>
            <a:ext cx="8515350" cy="509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02050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1143000"/>
          </a:xfrm>
        </p:spPr>
        <p:txBody>
          <a:bodyPr>
            <a:normAutofit fontScale="90000"/>
          </a:bodyPr>
          <a:lstStyle/>
          <a:p>
            <a:r>
              <a:rPr lang="en-US" b="1" dirty="0" smtClean="0">
                <a:solidFill>
                  <a:srgbClr val="0070C0"/>
                </a:solidFill>
                <a:latin typeface="Arial Black" pitchFamily="34" charset="0"/>
              </a:rPr>
              <a:t>HDFS</a:t>
            </a:r>
            <a:r>
              <a:rPr lang="en-US" dirty="0" smtClean="0">
                <a:solidFill>
                  <a:srgbClr val="0070C0"/>
                </a:solidFill>
              </a:rPr>
              <a:t> </a:t>
            </a:r>
            <a:r>
              <a:rPr lang="en-US" b="1" dirty="0" smtClean="0">
                <a:solidFill>
                  <a:srgbClr val="C00000"/>
                </a:solidFill>
              </a:rPr>
              <a:t>(</a:t>
            </a:r>
            <a:r>
              <a:rPr lang="en-US" b="1" dirty="0" err="1" smtClean="0">
                <a:solidFill>
                  <a:srgbClr val="C00000"/>
                </a:solidFill>
              </a:rPr>
              <a:t>Hadoop</a:t>
            </a:r>
            <a:r>
              <a:rPr lang="en-US" b="1" dirty="0" smtClean="0">
                <a:solidFill>
                  <a:srgbClr val="C00000"/>
                </a:solidFill>
              </a:rPr>
              <a:t> Distributed File System)</a:t>
            </a:r>
            <a:endParaRPr lang="en-US" b="1" dirty="0">
              <a:solidFill>
                <a:srgbClr val="C00000"/>
              </a:solidFill>
            </a:endParaRPr>
          </a:p>
        </p:txBody>
      </p:sp>
      <p:sp>
        <p:nvSpPr>
          <p:cNvPr id="3" name="Content Placeholder 2"/>
          <p:cNvSpPr>
            <a:spLocks noGrp="1"/>
          </p:cNvSpPr>
          <p:nvPr>
            <p:ph sz="quarter" idx="1"/>
          </p:nvPr>
        </p:nvSpPr>
        <p:spPr>
          <a:xfrm>
            <a:off x="609600" y="1447800"/>
            <a:ext cx="8382000" cy="4572000"/>
          </a:xfrm>
        </p:spPr>
        <p:txBody>
          <a:bodyPr>
            <a:normAutofit/>
          </a:bodyPr>
          <a:lstStyle/>
          <a:p>
            <a:r>
              <a:rPr lang="en-US" dirty="0"/>
              <a:t>A </a:t>
            </a:r>
            <a:r>
              <a:rPr lang="en-US" b="1" dirty="0">
                <a:solidFill>
                  <a:srgbClr val="0033CC"/>
                </a:solidFill>
              </a:rPr>
              <a:t>distributed file system </a:t>
            </a:r>
            <a:r>
              <a:rPr lang="en-US" dirty="0"/>
              <a:t>that provides high-throughput access </a:t>
            </a:r>
            <a:r>
              <a:rPr lang="en-US" dirty="0" smtClean="0"/>
              <a:t>to application </a:t>
            </a:r>
            <a:r>
              <a:rPr lang="en-US" dirty="0"/>
              <a:t>data</a:t>
            </a:r>
          </a:p>
          <a:p>
            <a:r>
              <a:rPr lang="en-US" dirty="0" smtClean="0"/>
              <a:t>HDFS </a:t>
            </a:r>
            <a:r>
              <a:rPr lang="en-US" dirty="0"/>
              <a:t>uses </a:t>
            </a:r>
            <a:r>
              <a:rPr lang="en-US" b="1" dirty="0">
                <a:solidFill>
                  <a:srgbClr val="FF0000"/>
                </a:solidFill>
              </a:rPr>
              <a:t>a master/slave architecture </a:t>
            </a:r>
            <a:r>
              <a:rPr lang="en-US" dirty="0"/>
              <a:t>in which one </a:t>
            </a:r>
            <a:r>
              <a:rPr lang="en-US" dirty="0" smtClean="0"/>
              <a:t>device </a:t>
            </a:r>
            <a:r>
              <a:rPr lang="en-US" dirty="0" smtClean="0">
                <a:solidFill>
                  <a:srgbClr val="000099"/>
                </a:solidFill>
              </a:rPr>
              <a:t>(master</a:t>
            </a:r>
            <a:r>
              <a:rPr lang="en-US" dirty="0">
                <a:solidFill>
                  <a:srgbClr val="000099"/>
                </a:solidFill>
              </a:rPr>
              <a:t>) termed as </a:t>
            </a:r>
            <a:r>
              <a:rPr lang="en-US" b="1" dirty="0" err="1">
                <a:solidFill>
                  <a:schemeClr val="accent2"/>
                </a:solidFill>
              </a:rPr>
              <a:t>NameNode</a:t>
            </a:r>
            <a:r>
              <a:rPr lang="en-US" dirty="0">
                <a:solidFill>
                  <a:srgbClr val="000099"/>
                </a:solidFill>
              </a:rPr>
              <a:t> controls one or more other </a:t>
            </a:r>
            <a:r>
              <a:rPr lang="en-US" dirty="0" smtClean="0">
                <a:solidFill>
                  <a:srgbClr val="000099"/>
                </a:solidFill>
              </a:rPr>
              <a:t>devices (slaves</a:t>
            </a:r>
            <a:r>
              <a:rPr lang="en-US" dirty="0">
                <a:solidFill>
                  <a:srgbClr val="000099"/>
                </a:solidFill>
              </a:rPr>
              <a:t>) termed as </a:t>
            </a:r>
            <a:r>
              <a:rPr lang="en-US" b="1" dirty="0" err="1">
                <a:solidFill>
                  <a:schemeClr val="accent2"/>
                </a:solidFill>
              </a:rPr>
              <a:t>DataNode</a:t>
            </a:r>
            <a:r>
              <a:rPr lang="en-US" dirty="0"/>
              <a:t>.</a:t>
            </a:r>
          </a:p>
          <a:p>
            <a:r>
              <a:rPr lang="en-US" dirty="0" smtClean="0"/>
              <a:t>It </a:t>
            </a:r>
            <a:r>
              <a:rPr lang="en-US" b="1" i="1" dirty="0"/>
              <a:t>breaks Data/Files into small blocks </a:t>
            </a:r>
            <a:r>
              <a:rPr lang="en-US" dirty="0"/>
              <a:t>(128 MB each block) </a:t>
            </a:r>
            <a:r>
              <a:rPr lang="en-US" dirty="0" smtClean="0"/>
              <a:t>and stores </a:t>
            </a:r>
            <a:r>
              <a:rPr lang="en-US" dirty="0"/>
              <a:t>on </a:t>
            </a:r>
            <a:r>
              <a:rPr lang="en-US" b="1" dirty="0" err="1">
                <a:solidFill>
                  <a:srgbClr val="0033CC"/>
                </a:solidFill>
              </a:rPr>
              <a:t>DataNode</a:t>
            </a:r>
            <a:r>
              <a:rPr lang="en-US" dirty="0"/>
              <a:t> and </a:t>
            </a:r>
            <a:r>
              <a:rPr lang="en-US" b="1" i="1" dirty="0">
                <a:solidFill>
                  <a:srgbClr val="7030A0"/>
                </a:solidFill>
              </a:rPr>
              <a:t>each block replicates on other nodes </a:t>
            </a:r>
            <a:r>
              <a:rPr lang="en-US" b="1" i="1" dirty="0" smtClean="0">
                <a:solidFill>
                  <a:srgbClr val="7030A0"/>
                </a:solidFill>
              </a:rPr>
              <a:t>to accomplish </a:t>
            </a:r>
            <a:r>
              <a:rPr lang="en-US" b="1" i="1" dirty="0">
                <a:solidFill>
                  <a:srgbClr val="7030A0"/>
                </a:solidFill>
              </a:rPr>
              <a:t>fault tolerance</a:t>
            </a:r>
            <a:r>
              <a:rPr lang="en-US" dirty="0"/>
              <a:t>.</a:t>
            </a:r>
          </a:p>
          <a:p>
            <a:r>
              <a:rPr lang="en-US" b="1" dirty="0" err="1" smtClean="0"/>
              <a:t>NameNode</a:t>
            </a:r>
            <a:r>
              <a:rPr lang="en-US" dirty="0" smtClean="0"/>
              <a:t> </a:t>
            </a:r>
            <a:r>
              <a:rPr lang="en-US" dirty="0"/>
              <a:t>keeps the track of blocks written to the </a:t>
            </a:r>
            <a:r>
              <a:rPr lang="en-US" b="1" dirty="0" err="1"/>
              <a:t>DataNode</a:t>
            </a:r>
            <a:r>
              <a:rPr lang="en-US" dirty="0"/>
              <a:t>.</a:t>
            </a:r>
          </a:p>
        </p:txBody>
      </p:sp>
    </p:spTree>
    <p:extLst>
      <p:ext uri="{BB962C8B-B14F-4D97-AF65-F5344CB8AC3E}">
        <p14:creationId xmlns:p14="http://schemas.microsoft.com/office/powerpoint/2010/main" val="19010206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33400" y="-76200"/>
            <a:ext cx="8229600" cy="1143000"/>
          </a:xfrm>
        </p:spPr>
        <p:txBody>
          <a:bodyPr>
            <a:normAutofit fontScale="90000"/>
          </a:bodyPr>
          <a:lstStyle/>
          <a:p>
            <a:r>
              <a:rPr lang="en-US" b="1" dirty="0" smtClean="0">
                <a:solidFill>
                  <a:srgbClr val="0070C0"/>
                </a:solidFill>
                <a:latin typeface="Arial Black" pitchFamily="34" charset="0"/>
              </a:rPr>
              <a:t>HDFS</a:t>
            </a:r>
            <a:r>
              <a:rPr lang="en-US" dirty="0" smtClean="0">
                <a:solidFill>
                  <a:srgbClr val="0070C0"/>
                </a:solidFill>
              </a:rPr>
              <a:t> </a:t>
            </a:r>
            <a:r>
              <a:rPr lang="en-US" b="1" dirty="0" smtClean="0">
                <a:solidFill>
                  <a:srgbClr val="C00000"/>
                </a:solidFill>
              </a:rPr>
              <a:t>(</a:t>
            </a:r>
            <a:r>
              <a:rPr lang="en-US" b="1" dirty="0" err="1" smtClean="0">
                <a:solidFill>
                  <a:srgbClr val="C00000"/>
                </a:solidFill>
              </a:rPr>
              <a:t>Hadoop</a:t>
            </a:r>
            <a:r>
              <a:rPr lang="en-US" b="1" dirty="0" smtClean="0">
                <a:solidFill>
                  <a:srgbClr val="C00000"/>
                </a:solidFill>
              </a:rPr>
              <a:t> Distributed File System)</a:t>
            </a:r>
            <a:endParaRPr lang="en-US" b="1" dirty="0">
              <a:solidFill>
                <a:srgbClr val="C00000"/>
              </a:solidFill>
            </a:endParaRPr>
          </a:p>
        </p:txBody>
      </p:sp>
      <p:pic>
        <p:nvPicPr>
          <p:cNvPr id="1032" name="Picture 8" descr="Hadoop Distributed File System(HDFS) - Coding Ninj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066800"/>
            <a:ext cx="7114323" cy="3886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990599" y="4962525"/>
            <a:ext cx="7114323" cy="1938992"/>
          </a:xfrm>
          <a:prstGeom prst="rect">
            <a:avLst/>
          </a:prstGeom>
        </p:spPr>
        <p:txBody>
          <a:bodyPr wrap="square">
            <a:spAutoFit/>
          </a:bodyPr>
          <a:lstStyle/>
          <a:p>
            <a:r>
              <a:rPr lang="en-US" sz="2400" b="1" dirty="0">
                <a:solidFill>
                  <a:srgbClr val="000099"/>
                </a:solidFill>
              </a:rPr>
              <a:t>A typical </a:t>
            </a:r>
            <a:r>
              <a:rPr lang="en-US" sz="2400" b="1" dirty="0" err="1">
                <a:solidFill>
                  <a:srgbClr val="000099"/>
                </a:solidFill>
              </a:rPr>
              <a:t>Hadoop</a:t>
            </a:r>
            <a:r>
              <a:rPr lang="en-US" sz="2400" b="1" dirty="0">
                <a:solidFill>
                  <a:srgbClr val="000099"/>
                </a:solidFill>
              </a:rPr>
              <a:t> cluster </a:t>
            </a:r>
            <a:r>
              <a:rPr lang="en-US" sz="2400" b="1" dirty="0" smtClean="0">
                <a:solidFill>
                  <a:srgbClr val="000099"/>
                </a:solidFill>
              </a:rPr>
              <a:t>installation consists </a:t>
            </a:r>
            <a:r>
              <a:rPr lang="en-US" sz="2400" b="1" dirty="0">
                <a:solidFill>
                  <a:srgbClr val="000099"/>
                </a:solidFill>
              </a:rPr>
              <a:t>of:</a:t>
            </a:r>
            <a:br>
              <a:rPr lang="en-US" sz="2400" b="1" dirty="0">
                <a:solidFill>
                  <a:srgbClr val="000099"/>
                </a:solidFill>
              </a:rPr>
            </a:br>
            <a:r>
              <a:rPr lang="en-US" sz="2400" b="1" dirty="0" smtClean="0"/>
              <a:t>- </a:t>
            </a:r>
            <a:r>
              <a:rPr lang="en-US" sz="2400" b="1" dirty="0" err="1" smtClean="0"/>
              <a:t>NameNode</a:t>
            </a:r>
            <a:r>
              <a:rPr lang="en-US" sz="2400" b="1" dirty="0"/>
              <a:t/>
            </a:r>
            <a:br>
              <a:rPr lang="en-US" sz="2400" b="1" dirty="0"/>
            </a:br>
            <a:r>
              <a:rPr lang="en-US" sz="2400" b="1" dirty="0" smtClean="0"/>
              <a:t>- Secondary </a:t>
            </a:r>
            <a:r>
              <a:rPr lang="en-US" sz="2400" b="1" dirty="0" err="1"/>
              <a:t>NameNode</a:t>
            </a:r>
            <a:r>
              <a:rPr lang="en-US" sz="2400" b="1" dirty="0"/>
              <a:t/>
            </a:r>
            <a:br>
              <a:rPr lang="en-US" sz="2400" b="1" dirty="0"/>
            </a:br>
            <a:r>
              <a:rPr lang="en-US" sz="2400" b="1" dirty="0" smtClean="0"/>
              <a:t>- Multiple </a:t>
            </a:r>
            <a:r>
              <a:rPr lang="en-US" sz="2400" b="1" dirty="0" err="1"/>
              <a:t>DataNodes</a:t>
            </a:r>
            <a:r>
              <a:rPr lang="en-US" sz="2400" b="1" dirty="0"/>
              <a:t> </a:t>
            </a:r>
            <a:br>
              <a:rPr lang="en-US" sz="2400" b="1" dirty="0"/>
            </a:br>
            <a:endParaRPr lang="en-US" sz="2400" b="1" dirty="0"/>
          </a:p>
        </p:txBody>
      </p:sp>
    </p:spTree>
    <p:extLst>
      <p:ext uri="{BB962C8B-B14F-4D97-AF65-F5344CB8AC3E}">
        <p14:creationId xmlns:p14="http://schemas.microsoft.com/office/powerpoint/2010/main" val="40189104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533400" y="-76200"/>
            <a:ext cx="8229600" cy="1143000"/>
          </a:xfrm>
        </p:spPr>
        <p:txBody>
          <a:bodyPr>
            <a:normAutofit fontScale="90000"/>
          </a:bodyPr>
          <a:lstStyle/>
          <a:p>
            <a:r>
              <a:rPr lang="en-US" b="1" dirty="0" smtClean="0">
                <a:solidFill>
                  <a:srgbClr val="0070C0"/>
                </a:solidFill>
                <a:latin typeface="Arial Black" pitchFamily="34" charset="0"/>
              </a:rPr>
              <a:t>HDFS</a:t>
            </a:r>
            <a:r>
              <a:rPr lang="en-US" dirty="0" smtClean="0">
                <a:solidFill>
                  <a:srgbClr val="0070C0"/>
                </a:solidFill>
              </a:rPr>
              <a:t> </a:t>
            </a:r>
            <a:r>
              <a:rPr lang="en-US" b="1" dirty="0" smtClean="0">
                <a:solidFill>
                  <a:srgbClr val="C00000"/>
                </a:solidFill>
              </a:rPr>
              <a:t>(</a:t>
            </a:r>
            <a:r>
              <a:rPr lang="en-US" b="1" dirty="0" err="1" smtClean="0">
                <a:solidFill>
                  <a:srgbClr val="C00000"/>
                </a:solidFill>
              </a:rPr>
              <a:t>Hadoop</a:t>
            </a:r>
            <a:r>
              <a:rPr lang="en-US" b="1" dirty="0" smtClean="0">
                <a:solidFill>
                  <a:srgbClr val="C00000"/>
                </a:solidFill>
              </a:rPr>
              <a:t> Distributed File System)</a:t>
            </a:r>
            <a:endParaRPr lang="en-US" b="1" dirty="0">
              <a:solidFill>
                <a:srgbClr val="C00000"/>
              </a:solidFill>
            </a:endParaRPr>
          </a:p>
        </p:txBody>
      </p:sp>
      <p:pic>
        <p:nvPicPr>
          <p:cNvPr id="1032" name="Picture 8" descr="Hadoop Distributed File System(HDFS) - Coding Ninja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3208420" cy="2667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810000" y="1143000"/>
            <a:ext cx="5105400" cy="2677656"/>
          </a:xfrm>
          <a:prstGeom prst="rect">
            <a:avLst/>
          </a:prstGeom>
          <a:ln w="28575">
            <a:solidFill>
              <a:srgbClr val="0070C0"/>
            </a:solidFill>
          </a:ln>
        </p:spPr>
        <p:txBody>
          <a:bodyPr wrap="square">
            <a:spAutoFit/>
          </a:bodyPr>
          <a:lstStyle/>
          <a:p>
            <a:r>
              <a:rPr lang="en-US" sz="2400" b="1" dirty="0" smtClean="0"/>
              <a:t>- </a:t>
            </a:r>
            <a:r>
              <a:rPr lang="en-US" sz="2400" b="1" dirty="0" err="1" smtClean="0"/>
              <a:t>NameNode</a:t>
            </a:r>
            <a:r>
              <a:rPr lang="en-US" sz="2400" b="1" dirty="0"/>
              <a:t/>
            </a:r>
            <a:br>
              <a:rPr lang="en-US" sz="2400" b="1" dirty="0"/>
            </a:br>
            <a:r>
              <a:rPr lang="en-US" sz="2400" dirty="0" smtClean="0"/>
              <a:t>The </a:t>
            </a:r>
            <a:r>
              <a:rPr lang="en-US" sz="2400" dirty="0" err="1"/>
              <a:t>NameNode</a:t>
            </a:r>
            <a:r>
              <a:rPr lang="en-US" sz="2400" dirty="0"/>
              <a:t> is </a:t>
            </a:r>
            <a:r>
              <a:rPr lang="en-US" sz="2400" b="1" dirty="0">
                <a:solidFill>
                  <a:srgbClr val="00B050"/>
                </a:solidFill>
              </a:rPr>
              <a:t>the main point </a:t>
            </a:r>
            <a:r>
              <a:rPr lang="en-US" sz="2400" b="1" dirty="0" smtClean="0">
                <a:solidFill>
                  <a:srgbClr val="00B050"/>
                </a:solidFill>
              </a:rPr>
              <a:t>of access </a:t>
            </a:r>
            <a:r>
              <a:rPr lang="en-US" sz="2400" dirty="0"/>
              <a:t>of a </a:t>
            </a:r>
            <a:r>
              <a:rPr lang="en-US" sz="2400" dirty="0" err="1"/>
              <a:t>Hadoop</a:t>
            </a:r>
            <a:r>
              <a:rPr lang="en-US" sz="2400" dirty="0"/>
              <a:t> cluster. It </a:t>
            </a:r>
            <a:r>
              <a:rPr lang="en-US" sz="2400" dirty="0" smtClean="0"/>
              <a:t>is responsible </a:t>
            </a:r>
            <a:r>
              <a:rPr lang="en-US" sz="2400" dirty="0"/>
              <a:t>for the </a:t>
            </a:r>
            <a:r>
              <a:rPr lang="en-US" sz="2400" dirty="0">
                <a:solidFill>
                  <a:srgbClr val="0033CC"/>
                </a:solidFill>
              </a:rPr>
              <a:t>bookkeeping </a:t>
            </a:r>
            <a:r>
              <a:rPr lang="en-US" sz="2400" dirty="0" smtClean="0"/>
              <a:t>of the </a:t>
            </a:r>
            <a:r>
              <a:rPr lang="en-US" sz="2400" dirty="0"/>
              <a:t>data partitioned across </a:t>
            </a:r>
            <a:r>
              <a:rPr lang="en-US" sz="2400" dirty="0" smtClean="0"/>
              <a:t>the </a:t>
            </a:r>
            <a:r>
              <a:rPr lang="en-US" sz="2400" dirty="0" err="1" smtClean="0"/>
              <a:t>DataNodes</a:t>
            </a:r>
            <a:r>
              <a:rPr lang="en-US" sz="2400" dirty="0"/>
              <a:t>, </a:t>
            </a:r>
            <a:r>
              <a:rPr lang="en-US" sz="2400" dirty="0">
                <a:solidFill>
                  <a:srgbClr val="0033CC"/>
                </a:solidFill>
              </a:rPr>
              <a:t>manages</a:t>
            </a:r>
            <a:r>
              <a:rPr lang="en-US" sz="2400" dirty="0"/>
              <a:t> the </a:t>
            </a:r>
            <a:r>
              <a:rPr lang="en-US" sz="2400" dirty="0" smtClean="0"/>
              <a:t>whole </a:t>
            </a:r>
            <a:r>
              <a:rPr lang="en-US" sz="2400" dirty="0" err="1" smtClean="0"/>
              <a:t>filesystem</a:t>
            </a:r>
            <a:r>
              <a:rPr lang="en-US" sz="2400" dirty="0" smtClean="0"/>
              <a:t> </a:t>
            </a:r>
            <a:r>
              <a:rPr lang="en-US" sz="2400" dirty="0"/>
              <a:t>metadata, and </a:t>
            </a:r>
            <a:r>
              <a:rPr lang="en-US" sz="2400" dirty="0" smtClean="0"/>
              <a:t>performs </a:t>
            </a:r>
            <a:r>
              <a:rPr lang="en-US" sz="2400" dirty="0" smtClean="0">
                <a:solidFill>
                  <a:srgbClr val="0033CC"/>
                </a:solidFill>
              </a:rPr>
              <a:t>load balancing</a:t>
            </a:r>
            <a:r>
              <a:rPr lang="en-US" sz="2400" dirty="0" smtClean="0"/>
              <a:t>. </a:t>
            </a:r>
            <a:endParaRPr lang="en-US" sz="2400" b="1" dirty="0"/>
          </a:p>
        </p:txBody>
      </p:sp>
      <p:sp>
        <p:nvSpPr>
          <p:cNvPr id="6" name="Rectangle 5"/>
          <p:cNvSpPr/>
          <p:nvPr/>
        </p:nvSpPr>
        <p:spPr>
          <a:xfrm>
            <a:off x="152400" y="3951744"/>
            <a:ext cx="4495800" cy="2308324"/>
          </a:xfrm>
          <a:prstGeom prst="rect">
            <a:avLst/>
          </a:prstGeom>
          <a:ln w="28575">
            <a:solidFill>
              <a:srgbClr val="FF0000"/>
            </a:solidFill>
          </a:ln>
        </p:spPr>
        <p:txBody>
          <a:bodyPr wrap="square">
            <a:spAutoFit/>
          </a:bodyPr>
          <a:lstStyle/>
          <a:p>
            <a:r>
              <a:rPr lang="en-US" sz="2400" b="1" dirty="0" smtClean="0"/>
              <a:t>- Secondary (</a:t>
            </a:r>
            <a:r>
              <a:rPr lang="en-US" sz="2400" b="1" i="1" dirty="0" smtClean="0">
                <a:solidFill>
                  <a:srgbClr val="00B050"/>
                </a:solidFill>
              </a:rPr>
              <a:t>standby</a:t>
            </a:r>
            <a:r>
              <a:rPr lang="en-US" sz="2400" b="1" dirty="0" smtClean="0"/>
              <a:t>) </a:t>
            </a:r>
            <a:r>
              <a:rPr lang="en-US" sz="2400" b="1" dirty="0" err="1" smtClean="0"/>
              <a:t>NameNode</a:t>
            </a:r>
            <a:r>
              <a:rPr lang="en-US" sz="2400" b="1" dirty="0"/>
              <a:t/>
            </a:r>
            <a:br>
              <a:rPr lang="en-US" sz="2400" b="1" dirty="0"/>
            </a:br>
            <a:r>
              <a:rPr lang="en-US" sz="2400" dirty="0"/>
              <a:t>Keeps track of changes in </a:t>
            </a:r>
            <a:r>
              <a:rPr lang="en-US" sz="2400" dirty="0" smtClean="0"/>
              <a:t>the </a:t>
            </a:r>
            <a:r>
              <a:rPr lang="en-US" sz="2400" b="1" dirty="0" err="1" smtClean="0"/>
              <a:t>NameNode</a:t>
            </a:r>
            <a:r>
              <a:rPr lang="en-US" sz="2400" dirty="0" smtClean="0"/>
              <a:t> </a:t>
            </a:r>
            <a:r>
              <a:rPr lang="en-US" sz="2400" dirty="0"/>
              <a:t>performing </a:t>
            </a:r>
            <a:r>
              <a:rPr lang="en-US" sz="2400" b="1" dirty="0" smtClean="0">
                <a:solidFill>
                  <a:srgbClr val="0033CC"/>
                </a:solidFill>
              </a:rPr>
              <a:t>regular snapshots</a:t>
            </a:r>
            <a:r>
              <a:rPr lang="en-US" sz="2400" dirty="0"/>
              <a:t>, thus allowing </a:t>
            </a:r>
            <a:r>
              <a:rPr lang="en-US" sz="2400" dirty="0" smtClean="0"/>
              <a:t>quick startup to guarantee </a:t>
            </a:r>
            <a:r>
              <a:rPr lang="en-US" sz="2400" dirty="0"/>
              <a:t>high availability </a:t>
            </a:r>
            <a:r>
              <a:rPr lang="en-US" sz="2400" dirty="0" smtClean="0"/>
              <a:t>(</a:t>
            </a:r>
            <a:r>
              <a:rPr lang="en-US" sz="2400" dirty="0" err="1" smtClean="0">
                <a:solidFill>
                  <a:srgbClr val="7030A0"/>
                </a:solidFill>
              </a:rPr>
              <a:t>NameNode</a:t>
            </a:r>
            <a:r>
              <a:rPr lang="en-US" sz="2400" dirty="0" smtClean="0">
                <a:solidFill>
                  <a:srgbClr val="7030A0"/>
                </a:solidFill>
              </a:rPr>
              <a:t> </a:t>
            </a:r>
            <a:r>
              <a:rPr lang="en-US" sz="2400" dirty="0">
                <a:solidFill>
                  <a:srgbClr val="7030A0"/>
                </a:solidFill>
              </a:rPr>
              <a:t>is a single point </a:t>
            </a:r>
            <a:r>
              <a:rPr lang="en-US" sz="2400" dirty="0" smtClean="0">
                <a:solidFill>
                  <a:srgbClr val="7030A0"/>
                </a:solidFill>
              </a:rPr>
              <a:t>of</a:t>
            </a:r>
            <a:r>
              <a:rPr lang="en-US" sz="2400" dirty="0">
                <a:solidFill>
                  <a:srgbClr val="7030A0"/>
                </a:solidFill>
              </a:rPr>
              <a:t> </a:t>
            </a:r>
            <a:r>
              <a:rPr lang="en-US" sz="2400" dirty="0" smtClean="0">
                <a:solidFill>
                  <a:srgbClr val="7030A0"/>
                </a:solidFill>
              </a:rPr>
              <a:t>failure</a:t>
            </a:r>
            <a:r>
              <a:rPr lang="en-US" sz="2400" dirty="0"/>
              <a:t>) </a:t>
            </a:r>
            <a:endParaRPr lang="en-US" sz="2400" b="1" dirty="0"/>
          </a:p>
        </p:txBody>
      </p:sp>
      <p:sp>
        <p:nvSpPr>
          <p:cNvPr id="7" name="Rectangle 6"/>
          <p:cNvSpPr/>
          <p:nvPr/>
        </p:nvSpPr>
        <p:spPr>
          <a:xfrm>
            <a:off x="4724400" y="3963412"/>
            <a:ext cx="4191000" cy="2308324"/>
          </a:xfrm>
          <a:prstGeom prst="rect">
            <a:avLst/>
          </a:prstGeom>
          <a:ln w="28575">
            <a:solidFill>
              <a:srgbClr val="00B050"/>
            </a:solidFill>
          </a:ln>
        </p:spPr>
        <p:txBody>
          <a:bodyPr wrap="square">
            <a:spAutoFit/>
          </a:bodyPr>
          <a:lstStyle/>
          <a:p>
            <a:r>
              <a:rPr lang="en-US" sz="2400" b="1" dirty="0" smtClean="0"/>
              <a:t>- </a:t>
            </a:r>
            <a:r>
              <a:rPr lang="en-US" sz="2400" b="1" dirty="0" err="1" smtClean="0"/>
              <a:t>DataNode</a:t>
            </a:r>
            <a:r>
              <a:rPr lang="en-US" sz="2400" b="1" dirty="0"/>
              <a:t/>
            </a:r>
            <a:br>
              <a:rPr lang="en-US" sz="2400" b="1" dirty="0"/>
            </a:br>
            <a:r>
              <a:rPr lang="en-US" sz="2400" dirty="0"/>
              <a:t>Here is where the data is </a:t>
            </a:r>
            <a:r>
              <a:rPr lang="en-US" sz="2400" dirty="0">
                <a:solidFill>
                  <a:srgbClr val="7030A0"/>
                </a:solidFill>
              </a:rPr>
              <a:t>saved and</a:t>
            </a:r>
            <a:br>
              <a:rPr lang="en-US" sz="2400" dirty="0">
                <a:solidFill>
                  <a:srgbClr val="7030A0"/>
                </a:solidFill>
              </a:rPr>
            </a:br>
            <a:r>
              <a:rPr lang="en-US" sz="2400" dirty="0">
                <a:solidFill>
                  <a:srgbClr val="7030A0"/>
                </a:solidFill>
              </a:rPr>
              <a:t>the computations</a:t>
            </a:r>
            <a:r>
              <a:rPr lang="en-US" sz="2400" dirty="0"/>
              <a:t> take place (data</a:t>
            </a:r>
            <a:br>
              <a:rPr lang="en-US" sz="2400" dirty="0"/>
            </a:br>
            <a:r>
              <a:rPr lang="en-US" sz="2400" dirty="0"/>
              <a:t>nodes should actually be called "data</a:t>
            </a:r>
            <a:br>
              <a:rPr lang="en-US" sz="2400" dirty="0"/>
            </a:br>
            <a:r>
              <a:rPr lang="en-US" sz="2400" dirty="0"/>
              <a:t>and worker nodes") </a:t>
            </a:r>
            <a:endParaRPr lang="en-US" sz="2400" dirty="0" smtClean="0"/>
          </a:p>
          <a:p>
            <a:endParaRPr lang="en-US" sz="2400" b="1" dirty="0"/>
          </a:p>
        </p:txBody>
      </p:sp>
    </p:spTree>
    <p:extLst>
      <p:ext uri="{BB962C8B-B14F-4D97-AF65-F5344CB8AC3E}">
        <p14:creationId xmlns:p14="http://schemas.microsoft.com/office/powerpoint/2010/main" val="1366894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533400" y="1219200"/>
            <a:ext cx="8229600" cy="5562600"/>
          </a:xfrm>
        </p:spPr>
        <p:txBody>
          <a:bodyPr>
            <a:normAutofit lnSpcReduction="10000"/>
          </a:bodyPr>
          <a:lstStyle/>
          <a:p>
            <a:r>
              <a:rPr lang="en-US" b="1" dirty="0" smtClean="0">
                <a:solidFill>
                  <a:srgbClr val="00B050"/>
                </a:solidFill>
              </a:rPr>
              <a:t>Data redundancy</a:t>
            </a:r>
            <a:r>
              <a:rPr lang="en-US" dirty="0" smtClean="0">
                <a:solidFill>
                  <a:srgbClr val="00B050"/>
                </a:solidFill>
              </a:rPr>
              <a:t>: </a:t>
            </a:r>
            <a:r>
              <a:rPr lang="en-US" dirty="0" smtClean="0"/>
              <a:t>a </a:t>
            </a:r>
            <a:r>
              <a:rPr lang="en-US" dirty="0"/>
              <a:t>method to recover the lost data using the redundant </a:t>
            </a:r>
            <a:r>
              <a:rPr lang="en-US" dirty="0" smtClean="0"/>
              <a:t>data.</a:t>
            </a:r>
          </a:p>
          <a:p>
            <a:r>
              <a:rPr lang="en-US" dirty="0" smtClean="0"/>
              <a:t>In </a:t>
            </a:r>
            <a:r>
              <a:rPr lang="en-US" dirty="0"/>
              <a:t>order to prevent data loss and/or task termination due to </a:t>
            </a:r>
            <a:r>
              <a:rPr lang="en-US" dirty="0" smtClean="0"/>
              <a:t>hardware failures </a:t>
            </a:r>
            <a:r>
              <a:rPr lang="en-US" dirty="0"/>
              <a:t>HDFS uses </a:t>
            </a:r>
            <a:r>
              <a:rPr lang="en-US" dirty="0" smtClean="0"/>
              <a:t>either :</a:t>
            </a:r>
          </a:p>
          <a:p>
            <a:pPr lvl="1"/>
            <a:r>
              <a:rPr lang="en-US" b="1" dirty="0" smtClean="0">
                <a:solidFill>
                  <a:srgbClr val="0033CC"/>
                </a:solidFill>
              </a:rPr>
              <a:t>Replication</a:t>
            </a:r>
            <a:r>
              <a:rPr lang="en-US" dirty="0" smtClean="0">
                <a:solidFill>
                  <a:srgbClr val="0033CC"/>
                </a:solidFill>
              </a:rPr>
              <a:t> </a:t>
            </a:r>
            <a:r>
              <a:rPr lang="en-US" dirty="0">
                <a:solidFill>
                  <a:srgbClr val="C00000"/>
                </a:solidFill>
              </a:rPr>
              <a:t>(creating multiple copies </a:t>
            </a:r>
            <a:r>
              <a:rPr lang="en-US" dirty="0" smtClean="0">
                <a:solidFill>
                  <a:srgbClr val="C00000"/>
                </a:solidFill>
              </a:rPr>
              <a:t>-</a:t>
            </a:r>
            <a:r>
              <a:rPr lang="en-US" b="1" i="1" dirty="0" smtClean="0">
                <a:solidFill>
                  <a:srgbClr val="C00000"/>
                </a:solidFill>
              </a:rPr>
              <a:t>usually 3</a:t>
            </a:r>
            <a:r>
              <a:rPr lang="en-US" dirty="0" smtClean="0">
                <a:solidFill>
                  <a:srgbClr val="C00000"/>
                </a:solidFill>
              </a:rPr>
              <a:t>- </a:t>
            </a:r>
            <a:r>
              <a:rPr lang="en-US" dirty="0">
                <a:solidFill>
                  <a:srgbClr val="C00000"/>
                </a:solidFill>
              </a:rPr>
              <a:t>of the </a:t>
            </a:r>
            <a:r>
              <a:rPr lang="en-US" dirty="0" smtClean="0">
                <a:solidFill>
                  <a:srgbClr val="C00000"/>
                </a:solidFill>
              </a:rPr>
              <a:t>data): </a:t>
            </a:r>
            <a:r>
              <a:rPr lang="en-US" dirty="0" smtClean="0"/>
              <a:t>The </a:t>
            </a:r>
            <a:r>
              <a:rPr lang="en-US" dirty="0"/>
              <a:t>simplest method for coding data by making n copies </a:t>
            </a:r>
            <a:r>
              <a:rPr lang="en-US" dirty="0" smtClean="0"/>
              <a:t>of the </a:t>
            </a:r>
            <a:r>
              <a:rPr lang="en-US" dirty="0"/>
              <a:t>data. </a:t>
            </a:r>
          </a:p>
          <a:p>
            <a:pPr lvl="2"/>
            <a:r>
              <a:rPr lang="en-US" sz="2400" dirty="0" smtClean="0"/>
              <a:t>n-fold </a:t>
            </a:r>
            <a:r>
              <a:rPr lang="en-US" sz="2400" dirty="0"/>
              <a:t>replication guarantees the availability of data for at </a:t>
            </a:r>
            <a:r>
              <a:rPr lang="en-US" sz="2400" dirty="0" smtClean="0"/>
              <a:t>most n </a:t>
            </a:r>
            <a:r>
              <a:rPr lang="en-US" sz="2400" dirty="0"/>
              <a:t>- 1 failures and it has a storage overhead of 200% (this is equivalent to </a:t>
            </a:r>
            <a:r>
              <a:rPr lang="en-US" sz="2400" dirty="0" smtClean="0"/>
              <a:t>a storage </a:t>
            </a:r>
            <a:r>
              <a:rPr lang="en-US" sz="2400" dirty="0"/>
              <a:t>efficiency of 33</a:t>
            </a:r>
            <a:r>
              <a:rPr lang="en-US" sz="2400" dirty="0" smtClean="0"/>
              <a:t>%).</a:t>
            </a:r>
            <a:endParaRPr lang="en-US" sz="2400" i="1" dirty="0" smtClean="0"/>
          </a:p>
          <a:p>
            <a:pPr lvl="1"/>
            <a:r>
              <a:rPr lang="en-US" b="1" dirty="0" smtClean="0">
                <a:solidFill>
                  <a:srgbClr val="0033CC"/>
                </a:solidFill>
              </a:rPr>
              <a:t>Erasure coding</a:t>
            </a:r>
          </a:p>
          <a:p>
            <a:pPr marL="514350" lvl="1" indent="0">
              <a:buNone/>
            </a:pPr>
            <a:r>
              <a:rPr lang="en-US" dirty="0"/>
              <a:t>The process entails the fragmentation of data into smaller components and the creation of supplementary elements, referred to as parity, which are distributed across multiple storage nodes. The presence of redundancy in the system allows for the retrieval of data fragments that have been lost or corrupted,</a:t>
            </a:r>
          </a:p>
        </p:txBody>
      </p:sp>
      <p:sp>
        <p:nvSpPr>
          <p:cNvPr id="4" name="Title 1"/>
          <p:cNvSpPr>
            <a:spLocks noGrp="1"/>
          </p:cNvSpPr>
          <p:nvPr>
            <p:ph type="title"/>
          </p:nvPr>
        </p:nvSpPr>
        <p:spPr>
          <a:xfrm>
            <a:off x="533400" y="-76200"/>
            <a:ext cx="8229600" cy="1143000"/>
          </a:xfrm>
        </p:spPr>
        <p:txBody>
          <a:bodyPr>
            <a:normAutofit/>
          </a:bodyPr>
          <a:lstStyle/>
          <a:p>
            <a:r>
              <a:rPr lang="en-US" sz="3200" b="1" dirty="0" smtClean="0">
                <a:solidFill>
                  <a:srgbClr val="0070C0"/>
                </a:solidFill>
                <a:latin typeface="Arial Black" pitchFamily="34" charset="0"/>
              </a:rPr>
              <a:t>HDFS- </a:t>
            </a:r>
            <a:r>
              <a:rPr lang="en-US" sz="2800" b="1" dirty="0" smtClean="0">
                <a:solidFill>
                  <a:srgbClr val="FF0000"/>
                </a:solidFill>
                <a:latin typeface="Arial" pitchFamily="34" charset="0"/>
                <a:cs typeface="Arial" pitchFamily="34" charset="0"/>
              </a:rPr>
              <a:t>Data Redundancy </a:t>
            </a:r>
            <a:r>
              <a:rPr lang="en-US" sz="2400" b="1" dirty="0" smtClean="0">
                <a:solidFill>
                  <a:srgbClr val="FF0000"/>
                </a:solidFill>
                <a:latin typeface="Arial" pitchFamily="34" charset="0"/>
                <a:cs typeface="Arial" pitchFamily="34" charset="0"/>
              </a:rPr>
              <a:t>(for data protection)</a:t>
            </a:r>
            <a:endParaRPr lang="en-US" sz="32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1980514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19224"/>
            <a:ext cx="8096250" cy="490537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a:xfrm>
            <a:off x="533400" y="-76200"/>
            <a:ext cx="8229600" cy="1143000"/>
          </a:xfrm>
        </p:spPr>
        <p:txBody>
          <a:bodyPr>
            <a:normAutofit/>
          </a:bodyPr>
          <a:lstStyle/>
          <a:p>
            <a:r>
              <a:rPr lang="en-US" sz="3200" b="1" dirty="0" smtClean="0">
                <a:solidFill>
                  <a:srgbClr val="0070C0"/>
                </a:solidFill>
                <a:latin typeface="Arial Black" pitchFamily="34" charset="0"/>
              </a:rPr>
              <a:t>Replication vs. Ensure Coding</a:t>
            </a:r>
            <a:endParaRPr lang="en-US" sz="3200"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87913469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More clarification</a:t>
            </a:r>
            <a:endParaRPr lang="en-US" b="1" dirty="0">
              <a:solidFill>
                <a:srgbClr val="FF0000"/>
              </a:solidFill>
            </a:endParaRPr>
          </a:p>
        </p:txBody>
      </p:sp>
      <p:pic>
        <p:nvPicPr>
          <p:cNvPr id="1028" name="Picture 4" descr="https://miro.medium.com/v2/resize:fit:1313/1*Qz_7UgIimaN1uto_adMcy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752600"/>
            <a:ext cx="7753350" cy="3590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62912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9144000" cy="1143000"/>
          </a:xfrm>
        </p:spPr>
        <p:txBody>
          <a:bodyPr>
            <a:normAutofit/>
          </a:bodyPr>
          <a:lstStyle/>
          <a:p>
            <a:r>
              <a:rPr lang="en-US" sz="2800" b="1" dirty="0">
                <a:solidFill>
                  <a:srgbClr val="0070C0"/>
                </a:solidFill>
                <a:latin typeface="Arial Black" pitchFamily="34" charset="0"/>
              </a:rPr>
              <a:t>HDFS architecture: </a:t>
            </a:r>
            <a:r>
              <a:rPr lang="en-US" sz="2800" b="1" dirty="0" smtClean="0">
                <a:solidFill>
                  <a:srgbClr val="0070C0"/>
                </a:solidFill>
                <a:latin typeface="Arial Black" pitchFamily="34" charset="0"/>
              </a:rPr>
              <a:t/>
            </a:r>
            <a:br>
              <a:rPr lang="en-US" sz="2800" b="1" dirty="0" smtClean="0">
                <a:solidFill>
                  <a:srgbClr val="0070C0"/>
                </a:solidFill>
                <a:latin typeface="Arial Black" pitchFamily="34" charset="0"/>
              </a:rPr>
            </a:br>
            <a:r>
              <a:rPr lang="en-US" sz="2800" b="1" dirty="0">
                <a:solidFill>
                  <a:srgbClr val="0070C0"/>
                </a:solidFill>
                <a:latin typeface="Arial Black" pitchFamily="34" charset="0"/>
              </a:rPr>
              <a:t>	</a:t>
            </a:r>
            <a:r>
              <a:rPr lang="en-US" sz="2800" b="1" dirty="0" smtClean="0">
                <a:solidFill>
                  <a:srgbClr val="0070C0"/>
                </a:solidFill>
                <a:latin typeface="Arial Black" pitchFamily="34" charset="0"/>
              </a:rPr>
              <a:t>		</a:t>
            </a:r>
            <a:r>
              <a:rPr lang="en-US" sz="2800" b="1" dirty="0" smtClean="0">
                <a:solidFill>
                  <a:srgbClr val="FF0000"/>
                </a:solidFill>
                <a:latin typeface="Arial Black" pitchFamily="34" charset="0"/>
              </a:rPr>
              <a:t>internal </a:t>
            </a:r>
            <a:r>
              <a:rPr lang="en-US" sz="2800" b="1" dirty="0">
                <a:solidFill>
                  <a:srgbClr val="FF0000"/>
                </a:solidFill>
                <a:latin typeface="Arial Black" pitchFamily="34" charset="0"/>
              </a:rPr>
              <a:t>data representation </a:t>
            </a:r>
          </a:p>
        </p:txBody>
      </p:sp>
      <p:sp>
        <p:nvSpPr>
          <p:cNvPr id="3" name="Content Placeholder 2"/>
          <p:cNvSpPr>
            <a:spLocks noGrp="1"/>
          </p:cNvSpPr>
          <p:nvPr>
            <p:ph sz="quarter" idx="1"/>
          </p:nvPr>
        </p:nvSpPr>
        <p:spPr>
          <a:xfrm>
            <a:off x="609600" y="1447800"/>
            <a:ext cx="7772400" cy="4572000"/>
          </a:xfrm>
        </p:spPr>
        <p:txBody>
          <a:bodyPr>
            <a:noAutofit/>
          </a:bodyPr>
          <a:lstStyle/>
          <a:p>
            <a:r>
              <a:rPr lang="en-US" sz="2800" dirty="0"/>
              <a:t>HDFS supports working with </a:t>
            </a:r>
            <a:r>
              <a:rPr lang="en-US" sz="2800" b="1" dirty="0"/>
              <a:t>very large </a:t>
            </a:r>
            <a:r>
              <a:rPr lang="en-US" sz="2800" b="1" dirty="0" smtClean="0"/>
              <a:t>files</a:t>
            </a:r>
            <a:r>
              <a:rPr lang="en-US" sz="2800" dirty="0" smtClean="0"/>
              <a:t>.</a:t>
            </a:r>
          </a:p>
          <a:p>
            <a:r>
              <a:rPr lang="en-US" sz="2800" dirty="0" smtClean="0"/>
              <a:t>Internally</a:t>
            </a:r>
            <a:r>
              <a:rPr lang="en-US" sz="2800" dirty="0"/>
              <a:t>, </a:t>
            </a:r>
            <a:r>
              <a:rPr lang="en-US" sz="2800" b="1" dirty="0">
                <a:solidFill>
                  <a:srgbClr val="00B050"/>
                </a:solidFill>
              </a:rPr>
              <a:t>data are split into </a:t>
            </a:r>
            <a:r>
              <a:rPr lang="en-US" sz="2800" b="1" i="1" dirty="0">
                <a:solidFill>
                  <a:srgbClr val="00B050"/>
                </a:solidFill>
              </a:rPr>
              <a:t>blocks</a:t>
            </a:r>
            <a:r>
              <a:rPr lang="en-US" sz="2800" dirty="0"/>
              <a:t>. One of the reason for splitting </a:t>
            </a:r>
            <a:r>
              <a:rPr lang="en-US" sz="2800" dirty="0" smtClean="0"/>
              <a:t>data into </a:t>
            </a:r>
            <a:r>
              <a:rPr lang="en-US" sz="2800" dirty="0"/>
              <a:t>blocks is that in this way </a:t>
            </a:r>
            <a:r>
              <a:rPr lang="en-US" sz="2800" b="1" dirty="0" smtClean="0">
                <a:solidFill>
                  <a:srgbClr val="0033CC"/>
                </a:solidFill>
              </a:rPr>
              <a:t>block objects all have the same size</a:t>
            </a:r>
            <a:r>
              <a:rPr lang="en-US" sz="2800" dirty="0" smtClean="0"/>
              <a:t>.</a:t>
            </a:r>
          </a:p>
          <a:p>
            <a:r>
              <a:rPr lang="en-US" sz="2800" dirty="0" smtClean="0"/>
              <a:t>The </a:t>
            </a:r>
            <a:r>
              <a:rPr lang="en-US" sz="2800" dirty="0"/>
              <a:t>block size in HDFS can be configured at installation time and it is </a:t>
            </a:r>
            <a:r>
              <a:rPr lang="en-US" sz="2800" dirty="0" smtClean="0"/>
              <a:t>by default 128MB.</a:t>
            </a:r>
          </a:p>
          <a:p>
            <a:r>
              <a:rPr lang="en-US" sz="2800" b="1" dirty="0" smtClean="0"/>
              <a:t>Note</a:t>
            </a:r>
            <a:r>
              <a:rPr lang="en-US" sz="2800" b="1" dirty="0"/>
              <a:t>: </a:t>
            </a:r>
            <a:r>
              <a:rPr lang="en-US" sz="2800" dirty="0" err="1"/>
              <a:t>Hadoop</a:t>
            </a:r>
            <a:r>
              <a:rPr lang="en-US" sz="2800" dirty="0"/>
              <a:t> sees data as a bunch of records and it processes </a:t>
            </a:r>
            <a:r>
              <a:rPr lang="en-US" sz="2800" dirty="0" smtClean="0"/>
              <a:t>multiple files </a:t>
            </a:r>
            <a:r>
              <a:rPr lang="en-US" sz="2800" dirty="0"/>
              <a:t>the same way it does with a single file. </a:t>
            </a:r>
            <a:br>
              <a:rPr lang="en-US" sz="2800" dirty="0"/>
            </a:br>
            <a:endParaRPr lang="en-US" sz="2800" dirty="0"/>
          </a:p>
        </p:txBody>
      </p:sp>
    </p:spTree>
    <p:extLst>
      <p:ext uri="{BB962C8B-B14F-4D97-AF65-F5344CB8AC3E}">
        <p14:creationId xmlns:p14="http://schemas.microsoft.com/office/powerpoint/2010/main" val="3438113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Apache Hadoop HDFS Tutorial | CloudDugg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0" y="304800"/>
            <a:ext cx="9010510" cy="617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6570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673" t="12641" r="21114" b="10185"/>
          <a:stretch/>
        </p:blipFill>
        <p:spPr bwMode="auto">
          <a:xfrm>
            <a:off x="304800" y="228600"/>
            <a:ext cx="8517835" cy="635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51652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13" y="442913"/>
            <a:ext cx="8588375" cy="597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246096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471488"/>
            <a:ext cx="8543925" cy="591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82282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347663"/>
            <a:ext cx="8580437" cy="616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371513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09575"/>
            <a:ext cx="8534400" cy="604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067256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75" y="228600"/>
            <a:ext cx="8604250" cy="634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5375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863" y="512763"/>
            <a:ext cx="8550275" cy="5837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45602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Assignment:</a:t>
            </a:r>
            <a:endParaRPr lang="en-US" b="1" dirty="0">
              <a:solidFill>
                <a:srgbClr val="C00000"/>
              </a:solidFill>
            </a:endParaRPr>
          </a:p>
        </p:txBody>
      </p:sp>
      <p:sp>
        <p:nvSpPr>
          <p:cNvPr id="3" name="Content Placeholder 2"/>
          <p:cNvSpPr>
            <a:spLocks noGrp="1"/>
          </p:cNvSpPr>
          <p:nvPr>
            <p:ph sz="quarter" idx="1"/>
          </p:nvPr>
        </p:nvSpPr>
        <p:spPr>
          <a:xfrm>
            <a:off x="914400" y="1600200"/>
            <a:ext cx="7772400" cy="4572000"/>
          </a:xfrm>
        </p:spPr>
        <p:txBody>
          <a:bodyPr/>
          <a:lstStyle/>
          <a:p>
            <a:r>
              <a:rPr lang="en-US" dirty="0" smtClean="0"/>
              <a:t>If you have a file of 100 TB required to be stored by HDFS, where this file is divided into blocks of 10 TB each.</a:t>
            </a:r>
          </a:p>
          <a:p>
            <a:r>
              <a:rPr lang="en-US" dirty="0" smtClean="0"/>
              <a:t>Draw how can you store these data, and what are the required number for the data nodes, if each one can store 30 TB.</a:t>
            </a:r>
          </a:p>
          <a:p>
            <a:r>
              <a:rPr lang="en-US" dirty="0" smtClean="0"/>
              <a:t>Note: you have to ensure replication. Also you have 2 </a:t>
            </a:r>
            <a:r>
              <a:rPr lang="en-US" smtClean="0"/>
              <a:t>racks for data nodes. </a:t>
            </a:r>
            <a:endParaRPr lang="en-US" dirty="0"/>
          </a:p>
        </p:txBody>
      </p:sp>
    </p:spTree>
    <p:extLst>
      <p:ext uri="{BB962C8B-B14F-4D97-AF65-F5344CB8AC3E}">
        <p14:creationId xmlns:p14="http://schemas.microsoft.com/office/powerpoint/2010/main" val="322320138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2319</TotalTime>
  <Words>915</Words>
  <Application>Microsoft Office PowerPoint</Application>
  <PresentationFormat>On-screen Show (4:3)</PresentationFormat>
  <Paragraphs>88</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Equity</vt:lpstr>
      <vt:lpstr>Introduction to</vt:lpstr>
      <vt:lpstr>Do you remind What is the mean of Big Data?</vt:lpstr>
      <vt:lpstr>Distributed Computing</vt:lpstr>
      <vt:lpstr>Main benefits of distributed computing</vt:lpstr>
      <vt:lpstr>PowerPoint Presentation</vt:lpstr>
      <vt:lpstr>Hadoop for distributed data processing</vt:lpstr>
      <vt:lpstr>Hadoop Features</vt:lpstr>
      <vt:lpstr>Hadoop Features</vt:lpstr>
      <vt:lpstr>Important Features in Hadoop</vt:lpstr>
      <vt:lpstr>Hadoop Ecosystem</vt:lpstr>
      <vt:lpstr>Hadoop Ecosystem</vt:lpstr>
      <vt:lpstr>1. Data Integration</vt:lpstr>
      <vt:lpstr>2. Hadoop Server Roles</vt:lpstr>
      <vt:lpstr>HDFS (Hadoop Distributed File System)</vt:lpstr>
      <vt:lpstr>HDFS (Hadoop Distributed File System)</vt:lpstr>
      <vt:lpstr>HDFS (Hadoop Distributed File System)</vt:lpstr>
      <vt:lpstr>HDFS- Data Redundancy (for data protection)</vt:lpstr>
      <vt:lpstr>Replication vs. Ensure Coding</vt:lpstr>
      <vt:lpstr>More clarification</vt:lpstr>
      <vt:lpstr>HDFS architecture:     internal data representation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Assignment: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dc:title>
  <dc:creator>Dell</dc:creator>
  <cp:lastModifiedBy>Dr. Noha Ezzat</cp:lastModifiedBy>
  <cp:revision>49</cp:revision>
  <dcterms:created xsi:type="dcterms:W3CDTF">2023-09-23T16:42:56Z</dcterms:created>
  <dcterms:modified xsi:type="dcterms:W3CDTF">2025-10-06T16:41:39Z</dcterms:modified>
</cp:coreProperties>
</file>